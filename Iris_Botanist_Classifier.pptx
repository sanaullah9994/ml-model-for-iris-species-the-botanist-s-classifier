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Species</c:v>
                </c:pt>
              </c:strCache>
            </c:strRef>
          </c:tx>
          <c:spPr>
            <a:solidFill>
              <a:schemeClr val="accent1"/>
            </a:solidFill>
            <a:ln w="9525" cap="flat">
              <a:solidFill>
                <a:srgbClr val="F9F9F9"/>
              </a:solidFill>
              <a:prstDash val="solid"/>
              <a:round/>
            </a:ln>
            <a:effectLst/>
          </c:spPr>
          <c:dPt>
            <c:idx val="0"/>
            <c:bubble3D val="0"/>
            <c:spPr>
              <a:solidFill>
                <a:srgbClr val="2E86C1"/>
              </a:solidFill>
              <a:effectLst/>
            </c:spPr>
          </c:dPt>
          <c:dPt>
            <c:idx val="1"/>
            <c:bubble3D val="0"/>
            <c:spPr>
              <a:solidFill>
                <a:srgbClr val="27AE60"/>
              </a:solidFill>
              <a:effectLst/>
            </c:spPr>
          </c:dPt>
          <c:dPt>
            <c:idx val="2"/>
            <c:bubble3D val="0"/>
            <c:spPr>
              <a:solidFill>
                <a:srgbClr val="E74C3C"/>
              </a:solidFill>
              <a:effectLst/>
            </c:spPr>
          </c:dPt>
          <c:dLbls>
            <c:dLbl>
              <c:idx val="0"/>
              <c:numFmt formatCode="0%" sourceLinked="0"/>
              <c:spPr/>
              <c:txPr>
                <a:bodyPr/>
                <a:lstStyle/>
                <a:p>
                  <a:pPr>
                    <a:defRPr sz="1200" b="0" i="0" u="none" strike="noStrike">
                      <a:solidFill>
                        <a:srgbClr val="F0F4F8"/>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F0F4F8"/>
                      </a:solidFill>
                      <a:latin typeface="Arial"/>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F0F4F8"/>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Setosa</c:v>
                </c:pt>
                <c:pt idx="1">
                  <c:v>Versicolor</c:v>
                </c:pt>
                <c:pt idx="2">
                  <c:v>Virginica</c:v>
                </c:pt>
              </c:strCache>
            </c:strRef>
          </c:cat>
          <c:val>
            <c:numRef>
              <c:f>Sheet1!$B$2:$B$4</c:f>
              <c:numCache>
                <c:ptCount val="3"/>
                <c:pt idx="0">
                  <c:v>50</c:v>
                </c:pt>
                <c:pt idx="1">
                  <c:v>50</c:v>
                </c:pt>
                <c:pt idx="2">
                  <c:v>50</c:v>
                </c:pt>
              </c:numCache>
            </c:numRef>
          </c:val>
        </c:ser>
        <c:firstSliceAng val="0"/>
        <c:holeSize val="55"/>
      </c:doughnutChart>
      <c:spPr>
        <a:noFill/>
        <a:ln>
          <a:noFill/>
        </a:ln>
        <a:effectLst/>
      </c:spPr>
    </c:plotArea>
    <c:legend>
      <c:legendPos val="b"/>
      <c:overlay val="0"/>
      <c:txPr>
        <a:bodyPr/>
        <a:lstStyle/>
        <a:p>
          <a:pPr>
            <a:defRPr sz="1100">      </a:defRPr>
          </a:pPr>
          <a:endParaRPr lang="en-US"/>
        </a:p>
      </c:txPr>
    </c:legend>
    <c:plotVisOnly val="1"/>
    <c:dispBlanksAs val="span"/>
  </c:chart>
  <c:spPr>
    <a:solidFill>
      <a:srgbClr val="161B22"/>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addresses a practical challenge in botanical field research — the manual, error-prone process of identifying Iris species. We bring a data-driven framework to replace guesswork with measurable, repeatable rules. Duration: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human challenge first. Field researchers need consistent, trustworthy species records. The subjective eye test fails repeatedly for two of the three species. This data project translates measurement data into a clear rulebook. Duration: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observations per species — a perfectly balanced training set. This is a critical data quality advantage: balanced classes prevent the model from systematically favouring a majority species. Duration: part of Data Cleaning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raw dataset arrived in excellent shape. One outlier in sepal width was reviewed against botanical literature and retained as valid natural variation. No imputation was needed — an ideal starting condition for reliable modelling. Duration: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4×4 matrix plots every feature against every other. The diagonal shows frequency distributions. Key observation: the bottom-right petal quadrant shows near-perfect species separation. Sepal Width shows significant overlap — it should not be the primary classification criterion. Duration: part of Key Insights.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scatter is the single most powerful visual in the deck. Two dashed threshold lines — at 2.5 cm and 4.75 cm petal length — produce three near-perfect zones. Setosa is completely separable. Versicolor and Virginica share a narrow grey zone around 4.5-5.0 cm. Duration: part of Key Insights.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 plots reveal spread, not just averages. The golden median lines show Setosa well below 2 cm in both petal dimensions. Versicolor clusters in the 3.5–5.0 cm petal length range. Virginica consistently exceeds 5 cm. The whiskers — showing max/min — confirm the boundaries identified in the scatter plot. Duration: part of Key Insights.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grouped bar chart confirms what the scatter plot suggests. Petal Length means are 1.46, 4.26, and 5.55 for Setosa, Versicolor, and Virginica respectively — a clean step ladder. Sepal Width means converge at 3.42, 2.77, and 2.97 — too close for reliable discrimination. Duration: part of Key Insights.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presenting results, explain the rigour. We did not simply train one model and report accuracy. Cross-validation prevents the optimism bias that single-test accuracy creates. Four model architectures were compared on equal footing. Duration: part of ML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chart shows all four models achieving above 90% cross-validated accuracy — the dataset has strong signal. The confusion matrix on the right is the honest story: Setosa is perfect (10/10). Versicolor and Virginica have minor boundary confusion (3 misclassifications), consistent with the overlap zone seen in the scatter plot. Duration: part of ML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provides model-level validation of what we observed visually. Petal Width and Length together account for nearly 86% of classification power. This is the scientific foundation for the rulebook on the next slide. Duration: part of ML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deliverable. Three rules, based entirely on petal measurements, that any field researcher can apply with a ruler. Setosa is always identifiable. Versicolor and Virginica are separated by a clear threshold. Edge cases (roughly 5% of specimens) require one additional sepal length check. The business outcome: misclassification rate drops from an estimated 15% under the current manual process to under 5%. Duration: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4206240" cy="5143500"/>
          </a:xfrm>
          <a:prstGeom prst="rect">
            <a:avLst/>
          </a:prstGeom>
          <a:solidFill>
            <a:srgbClr val="1A5276">
              <a:alpha val="85000"/>
            </a:srgbClr>
          </a:solidFill>
          <a:ln w="12700">
            <a:solidFill>
              <a:srgbClr val="1A5276">
                <a:alpha val="85000"/>
              </a:srgbClr>
            </a:solidFill>
            <a:prstDash val="solid"/>
          </a:ln>
        </p:spPr>
      </p:sp>
      <p:sp>
        <p:nvSpPr>
          <p:cNvPr id="3" name="Shape 1"/>
          <p:cNvSpPr/>
          <p:nvPr/>
        </p:nvSpPr>
        <p:spPr>
          <a:xfrm>
            <a:off x="4206240" y="0"/>
            <a:ext cx="4937760" cy="5143500"/>
          </a:xfrm>
          <a:prstGeom prst="rect">
            <a:avLst/>
          </a:prstGeom>
          <a:solidFill>
            <a:srgbClr val="0D1117"/>
          </a:solidFill>
          <a:ln w="12700">
            <a:solidFill>
              <a:srgbClr val="0D1117"/>
            </a:solidFill>
            <a:prstDash val="solid"/>
          </a:ln>
        </p:spPr>
      </p:sp>
      <p:sp>
        <p:nvSpPr>
          <p:cNvPr id="4" name="Shape 2"/>
          <p:cNvSpPr/>
          <p:nvPr/>
        </p:nvSpPr>
        <p:spPr>
          <a:xfrm>
            <a:off x="411480" y="502920"/>
            <a:ext cx="2103120" cy="292608"/>
          </a:xfrm>
          <a:prstGeom prst="roundRect">
            <a:avLst>
              <a:gd name="adj" fmla="val 18750"/>
            </a:avLst>
          </a:prstGeom>
          <a:solidFill>
            <a:srgbClr val="D4AC0D"/>
          </a:solidFill>
          <a:ln w="12700">
            <a:solidFill>
              <a:srgbClr val="D4AC0D"/>
            </a:solidFill>
            <a:prstDash val="solid"/>
          </a:ln>
        </p:spPr>
      </p:sp>
      <p:sp>
        <p:nvSpPr>
          <p:cNvPr id="5" name="Text 3"/>
          <p:cNvSpPr/>
          <p:nvPr/>
        </p:nvSpPr>
        <p:spPr>
          <a:xfrm>
            <a:off x="411480" y="502920"/>
            <a:ext cx="2103120" cy="292608"/>
          </a:xfrm>
          <a:prstGeom prst="rect">
            <a:avLst/>
          </a:prstGeom>
          <a:noFill/>
          <a:ln/>
        </p:spPr>
        <p:txBody>
          <a:bodyPr wrap="square" rtlCol="0" anchor="ctr"/>
          <a:lstStyle/>
          <a:p>
            <a:pPr algn="ctr" indent="0" marL="0">
              <a:buNone/>
            </a:pPr>
            <a:r>
              <a:rPr lang="en-US" sz="800" b="1" dirty="0">
                <a:solidFill>
                  <a:srgbClr val="0D1117"/>
                </a:solidFill>
              </a:rPr>
              <a:t>CLASSIFICATION PROJECT</a:t>
            </a:r>
            <a:endParaRPr lang="en-US" sz="800" dirty="0"/>
          </a:p>
        </p:txBody>
      </p:sp>
      <p:sp>
        <p:nvSpPr>
          <p:cNvPr id="6" name="Text 4"/>
          <p:cNvSpPr/>
          <p:nvPr/>
        </p:nvSpPr>
        <p:spPr>
          <a:xfrm>
            <a:off x="411480" y="1005840"/>
            <a:ext cx="3657600" cy="685800"/>
          </a:xfrm>
          <a:prstGeom prst="rect">
            <a:avLst/>
          </a:prstGeom>
          <a:noFill/>
          <a:ln/>
        </p:spPr>
        <p:txBody>
          <a:bodyPr wrap="square" rtlCol="0" anchor="t"/>
          <a:lstStyle/>
          <a:p>
            <a:pPr indent="0" marL="0">
              <a:buNone/>
            </a:pPr>
            <a:r>
              <a:rPr lang="en-US" sz="3800" b="1" dirty="0">
                <a:solidFill>
                  <a:srgbClr val="F0F4F8"/>
                </a:solidFill>
                <a:latin typeface="Cambria" pitchFamily="34" charset="0"/>
                <a:ea typeface="Cambria" pitchFamily="34" charset="-122"/>
                <a:cs typeface="Cambria" pitchFamily="34" charset="-120"/>
              </a:rPr>
              <a:t>Iris Species:</a:t>
            </a:r>
            <a:endParaRPr lang="en-US" sz="3800" dirty="0"/>
          </a:p>
        </p:txBody>
      </p:sp>
      <p:sp>
        <p:nvSpPr>
          <p:cNvPr id="7" name="Text 5"/>
          <p:cNvSpPr/>
          <p:nvPr/>
        </p:nvSpPr>
        <p:spPr>
          <a:xfrm>
            <a:off x="411480" y="1645920"/>
            <a:ext cx="3657600" cy="1188720"/>
          </a:xfrm>
          <a:prstGeom prst="rect">
            <a:avLst/>
          </a:prstGeom>
          <a:noFill/>
          <a:ln/>
        </p:spPr>
        <p:txBody>
          <a:bodyPr wrap="square" rtlCol="0" anchor="t"/>
          <a:lstStyle/>
          <a:p>
            <a:pPr indent="0" marL="0">
              <a:buNone/>
            </a:pPr>
            <a:r>
              <a:rPr lang="en-US" sz="3800" b="1" dirty="0">
                <a:solidFill>
                  <a:srgbClr val="D4AC0D"/>
                </a:solidFill>
                <a:latin typeface="Cambria" pitchFamily="34" charset="0"/>
                <a:ea typeface="Cambria" pitchFamily="34" charset="-122"/>
                <a:cs typeface="Cambria" pitchFamily="34" charset="-120"/>
              </a:rPr>
              <a:t>The Botanist's</a:t>
            </a:r>
            <a:endParaRPr lang="en-US" sz="3800" dirty="0"/>
          </a:p>
          <a:p>
            <a:pPr indent="0" marL="0">
              <a:buNone/>
            </a:pPr>
            <a:r>
              <a:rPr lang="en-US" sz="3800" b="1" dirty="0">
                <a:solidFill>
                  <a:srgbClr val="D4AC0D"/>
                </a:solidFill>
                <a:latin typeface="Cambria" pitchFamily="34" charset="0"/>
                <a:ea typeface="Cambria" pitchFamily="34" charset="-122"/>
                <a:cs typeface="Cambria" pitchFamily="34" charset="-120"/>
              </a:rPr>
              <a:t>Classifier</a:t>
            </a:r>
            <a:endParaRPr lang="en-US" sz="3800" dirty="0"/>
          </a:p>
        </p:txBody>
      </p:sp>
      <p:sp>
        <p:nvSpPr>
          <p:cNvPr id="8" name="Text 6"/>
          <p:cNvSpPr/>
          <p:nvPr/>
        </p:nvSpPr>
        <p:spPr>
          <a:xfrm>
            <a:off x="411480" y="2926080"/>
            <a:ext cx="3657600" cy="502920"/>
          </a:xfrm>
          <a:prstGeom prst="rect">
            <a:avLst/>
          </a:prstGeom>
          <a:noFill/>
          <a:ln/>
        </p:spPr>
        <p:txBody>
          <a:bodyPr wrap="square" rtlCol="0" anchor="ctr"/>
          <a:lstStyle/>
          <a:p>
            <a:pPr indent="0" marL="0">
              <a:buNone/>
            </a:pPr>
            <a:r>
              <a:rPr lang="en-US" sz="1300" i="1" dirty="0">
                <a:solidFill>
                  <a:srgbClr val="8B9CB3"/>
                </a:solidFill>
                <a:latin typeface="Calibri" pitchFamily="34" charset="0"/>
                <a:ea typeface="Calibri" pitchFamily="34" charset="-122"/>
                <a:cs typeface="Calibri" pitchFamily="34" charset="-120"/>
              </a:rPr>
              <a:t>From Field Measurements to Data-Driven Species Identification</a:t>
            </a:r>
            <a:endParaRPr lang="en-US" sz="1300" dirty="0"/>
          </a:p>
        </p:txBody>
      </p:sp>
      <p:sp>
        <p:nvSpPr>
          <p:cNvPr id="9" name="Shape 7"/>
          <p:cNvSpPr/>
          <p:nvPr/>
        </p:nvSpPr>
        <p:spPr>
          <a:xfrm>
            <a:off x="411480" y="3520440"/>
            <a:ext cx="3291840" cy="0"/>
          </a:xfrm>
          <a:prstGeom prst="line">
            <a:avLst/>
          </a:prstGeom>
          <a:noFill/>
          <a:ln w="19050">
            <a:solidFill>
              <a:srgbClr val="D4AC0D"/>
            </a:solidFill>
            <a:prstDash val="solid"/>
          </a:ln>
        </p:spPr>
      </p:sp>
      <p:sp>
        <p:nvSpPr>
          <p:cNvPr id="10" name="Text 8"/>
          <p:cNvSpPr/>
          <p:nvPr/>
        </p:nvSpPr>
        <p:spPr>
          <a:xfrm>
            <a:off x="411480" y="3703320"/>
            <a:ext cx="3474720" cy="320040"/>
          </a:xfrm>
          <a:prstGeom prst="rect">
            <a:avLst/>
          </a:prstGeom>
          <a:noFill/>
          <a:ln/>
        </p:spPr>
        <p:txBody>
          <a:bodyPr wrap="square" rtlCol="0" anchor="ctr"/>
          <a:lstStyle/>
          <a:p>
            <a:pPr indent="0" marL="0">
              <a:buNone/>
            </a:pPr>
            <a:r>
              <a:rPr lang="en-US" sz="1100" dirty="0">
                <a:solidFill>
                  <a:srgbClr val="8B9CB3"/>
                </a:solidFill>
                <a:latin typeface="Calibri" pitchFamily="34" charset="0"/>
                <a:ea typeface="Calibri" pitchFamily="34" charset="-122"/>
                <a:cs typeface="Calibri" pitchFamily="34" charset="-120"/>
              </a:rPr>
              <a:t>Presented by  </a:t>
            </a:r>
            <a:pPr indent="0" marL="0">
              <a:buNone/>
            </a:pPr>
            <a:r>
              <a:rPr lang="en-US" sz="1100" b="1" dirty="0">
                <a:solidFill>
                  <a:srgbClr val="F0F4F8"/>
                </a:solidFill>
                <a:latin typeface="Calibri" pitchFamily="34" charset="0"/>
                <a:ea typeface="Calibri" pitchFamily="34" charset="-122"/>
                <a:cs typeface="Calibri" pitchFamily="34" charset="-120"/>
              </a:rPr>
              <a:t>Analytics &amp; Insights Division</a:t>
            </a:r>
            <a:endParaRPr lang="en-US" sz="1100" dirty="0"/>
          </a:p>
        </p:txBody>
      </p:sp>
      <p:sp>
        <p:nvSpPr>
          <p:cNvPr id="11" name="Text 9"/>
          <p:cNvSpPr/>
          <p:nvPr/>
        </p:nvSpPr>
        <p:spPr>
          <a:xfrm>
            <a:off x="411480" y="4069080"/>
            <a:ext cx="3474720" cy="320040"/>
          </a:xfrm>
          <a:prstGeom prst="rect">
            <a:avLst/>
          </a:prstGeom>
          <a:noFill/>
          <a:ln/>
        </p:spPr>
        <p:txBody>
          <a:bodyPr wrap="square" rtlCol="0" anchor="ctr"/>
          <a:lstStyle/>
          <a:p>
            <a:pPr indent="0" marL="0">
              <a:buNone/>
            </a:pPr>
            <a:r>
              <a:rPr lang="en-US" sz="1000" dirty="0">
                <a:solidFill>
                  <a:srgbClr val="8B9CB3"/>
                </a:solidFill>
                <a:latin typeface="Calibri" pitchFamily="34" charset="0"/>
                <a:ea typeface="Calibri" pitchFamily="34" charset="-122"/>
                <a:cs typeface="Calibri" pitchFamily="34" charset="-120"/>
              </a:rPr>
              <a:t>Data Science Capstone  |  June 2026</a:t>
            </a:r>
            <a:endParaRPr lang="en-US" sz="1000" dirty="0"/>
          </a:p>
        </p:txBody>
      </p:sp>
      <p:sp>
        <p:nvSpPr>
          <p:cNvPr id="12" name="Shape 10"/>
          <p:cNvSpPr/>
          <p:nvPr/>
        </p:nvSpPr>
        <p:spPr>
          <a:xfrm>
            <a:off x="4572000" y="1097280"/>
            <a:ext cx="4114800" cy="1005840"/>
          </a:xfrm>
          <a:prstGeom prst="roundRect">
            <a:avLst>
              <a:gd name="adj" fmla="val 7273"/>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13" name="Shape 11"/>
          <p:cNvSpPr/>
          <p:nvPr/>
        </p:nvSpPr>
        <p:spPr>
          <a:xfrm>
            <a:off x="4681728" y="1234440"/>
            <a:ext cx="228600" cy="731520"/>
          </a:xfrm>
          <a:prstGeom prst="roundRect">
            <a:avLst>
              <a:gd name="adj" fmla="val 16000"/>
            </a:avLst>
          </a:prstGeom>
          <a:solidFill>
            <a:srgbClr val="2E86C1"/>
          </a:solidFill>
          <a:ln w="12700">
            <a:solidFill>
              <a:srgbClr val="2E86C1"/>
            </a:solidFill>
            <a:prstDash val="solid"/>
          </a:ln>
        </p:spPr>
      </p:sp>
      <p:sp>
        <p:nvSpPr>
          <p:cNvPr id="14" name="Text 12"/>
          <p:cNvSpPr/>
          <p:nvPr/>
        </p:nvSpPr>
        <p:spPr>
          <a:xfrm>
            <a:off x="5029200" y="1234440"/>
            <a:ext cx="3200400" cy="411480"/>
          </a:xfrm>
          <a:prstGeom prst="rect">
            <a:avLst/>
          </a:prstGeom>
          <a:noFill/>
          <a:ln/>
        </p:spPr>
        <p:txBody>
          <a:bodyPr wrap="square" rtlCol="0" anchor="ctr"/>
          <a:lstStyle/>
          <a:p>
            <a:pPr indent="0" marL="0">
              <a:buNone/>
            </a:pPr>
            <a:r>
              <a:rPr lang="en-US" sz="1600" b="1" dirty="0">
                <a:solidFill>
                  <a:srgbClr val="F0F4F8"/>
                </a:solidFill>
                <a:latin typeface="Cambria" pitchFamily="34" charset="0"/>
                <a:ea typeface="Cambria" pitchFamily="34" charset="-122"/>
                <a:cs typeface="Cambria" pitchFamily="34" charset="-120"/>
              </a:rPr>
              <a:t>Iris Setosa</a:t>
            </a:r>
            <a:endParaRPr lang="en-US" sz="1600" dirty="0"/>
          </a:p>
        </p:txBody>
      </p:sp>
      <p:sp>
        <p:nvSpPr>
          <p:cNvPr id="15" name="Text 13"/>
          <p:cNvSpPr/>
          <p:nvPr/>
        </p:nvSpPr>
        <p:spPr>
          <a:xfrm>
            <a:off x="5029200" y="1627632"/>
            <a:ext cx="3200400" cy="274320"/>
          </a:xfrm>
          <a:prstGeom prst="rect">
            <a:avLst/>
          </a:prstGeom>
          <a:noFill/>
          <a:ln/>
        </p:spPr>
        <p:txBody>
          <a:bodyPr wrap="square" rtlCol="0" anchor="ctr"/>
          <a:lstStyle/>
          <a:p>
            <a:pPr indent="0" marL="0">
              <a:buNone/>
            </a:pPr>
            <a:r>
              <a:rPr lang="en-US" sz="1200" dirty="0">
                <a:solidFill>
                  <a:srgbClr val="8B9CB3"/>
                </a:solidFill>
                <a:latin typeface="Calibri" pitchFamily="34" charset="0"/>
                <a:ea typeface="Calibri" pitchFamily="34" charset="-122"/>
                <a:cs typeface="Calibri" pitchFamily="34" charset="-120"/>
              </a:rPr>
              <a:t>50 Samples</a:t>
            </a:r>
            <a:endParaRPr lang="en-US" sz="1200" dirty="0"/>
          </a:p>
        </p:txBody>
      </p:sp>
      <p:sp>
        <p:nvSpPr>
          <p:cNvPr id="16" name="Shape 14"/>
          <p:cNvSpPr/>
          <p:nvPr/>
        </p:nvSpPr>
        <p:spPr>
          <a:xfrm>
            <a:off x="4572000" y="2331720"/>
            <a:ext cx="4114800" cy="1005840"/>
          </a:xfrm>
          <a:prstGeom prst="roundRect">
            <a:avLst>
              <a:gd name="adj" fmla="val 7273"/>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17" name="Shape 15"/>
          <p:cNvSpPr/>
          <p:nvPr/>
        </p:nvSpPr>
        <p:spPr>
          <a:xfrm>
            <a:off x="4681728" y="2468880"/>
            <a:ext cx="228600" cy="731520"/>
          </a:xfrm>
          <a:prstGeom prst="roundRect">
            <a:avLst>
              <a:gd name="adj" fmla="val 16000"/>
            </a:avLst>
          </a:prstGeom>
          <a:solidFill>
            <a:srgbClr val="27AE60"/>
          </a:solidFill>
          <a:ln w="12700">
            <a:solidFill>
              <a:srgbClr val="27AE60"/>
            </a:solidFill>
            <a:prstDash val="solid"/>
          </a:ln>
        </p:spPr>
      </p:sp>
      <p:sp>
        <p:nvSpPr>
          <p:cNvPr id="18" name="Text 16"/>
          <p:cNvSpPr/>
          <p:nvPr/>
        </p:nvSpPr>
        <p:spPr>
          <a:xfrm>
            <a:off x="5029200" y="2468880"/>
            <a:ext cx="3200400" cy="411480"/>
          </a:xfrm>
          <a:prstGeom prst="rect">
            <a:avLst/>
          </a:prstGeom>
          <a:noFill/>
          <a:ln/>
        </p:spPr>
        <p:txBody>
          <a:bodyPr wrap="square" rtlCol="0" anchor="ctr"/>
          <a:lstStyle/>
          <a:p>
            <a:pPr indent="0" marL="0">
              <a:buNone/>
            </a:pPr>
            <a:r>
              <a:rPr lang="en-US" sz="1600" b="1" dirty="0">
                <a:solidFill>
                  <a:srgbClr val="F0F4F8"/>
                </a:solidFill>
                <a:latin typeface="Cambria" pitchFamily="34" charset="0"/>
                <a:ea typeface="Cambria" pitchFamily="34" charset="-122"/>
                <a:cs typeface="Cambria" pitchFamily="34" charset="-120"/>
              </a:rPr>
              <a:t>Iris Versicolor</a:t>
            </a:r>
            <a:endParaRPr lang="en-US" sz="1600" dirty="0"/>
          </a:p>
        </p:txBody>
      </p:sp>
      <p:sp>
        <p:nvSpPr>
          <p:cNvPr id="19" name="Text 17"/>
          <p:cNvSpPr/>
          <p:nvPr/>
        </p:nvSpPr>
        <p:spPr>
          <a:xfrm>
            <a:off x="5029200" y="2862072"/>
            <a:ext cx="3200400" cy="274320"/>
          </a:xfrm>
          <a:prstGeom prst="rect">
            <a:avLst/>
          </a:prstGeom>
          <a:noFill/>
          <a:ln/>
        </p:spPr>
        <p:txBody>
          <a:bodyPr wrap="square" rtlCol="0" anchor="ctr"/>
          <a:lstStyle/>
          <a:p>
            <a:pPr indent="0" marL="0">
              <a:buNone/>
            </a:pPr>
            <a:r>
              <a:rPr lang="en-US" sz="1200" dirty="0">
                <a:solidFill>
                  <a:srgbClr val="8B9CB3"/>
                </a:solidFill>
                <a:latin typeface="Calibri" pitchFamily="34" charset="0"/>
                <a:ea typeface="Calibri" pitchFamily="34" charset="-122"/>
                <a:cs typeface="Calibri" pitchFamily="34" charset="-120"/>
              </a:rPr>
              <a:t>50 Samples</a:t>
            </a:r>
            <a:endParaRPr lang="en-US" sz="1200" dirty="0"/>
          </a:p>
        </p:txBody>
      </p:sp>
      <p:sp>
        <p:nvSpPr>
          <p:cNvPr id="20" name="Shape 18"/>
          <p:cNvSpPr/>
          <p:nvPr/>
        </p:nvSpPr>
        <p:spPr>
          <a:xfrm>
            <a:off x="4572000" y="3566160"/>
            <a:ext cx="4114800" cy="1005840"/>
          </a:xfrm>
          <a:prstGeom prst="roundRect">
            <a:avLst>
              <a:gd name="adj" fmla="val 7273"/>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21" name="Shape 19"/>
          <p:cNvSpPr/>
          <p:nvPr/>
        </p:nvSpPr>
        <p:spPr>
          <a:xfrm>
            <a:off x="4681728" y="3703320"/>
            <a:ext cx="228600" cy="731520"/>
          </a:xfrm>
          <a:prstGeom prst="roundRect">
            <a:avLst>
              <a:gd name="adj" fmla="val 16000"/>
            </a:avLst>
          </a:prstGeom>
          <a:solidFill>
            <a:srgbClr val="E74C3C"/>
          </a:solidFill>
          <a:ln w="12700">
            <a:solidFill>
              <a:srgbClr val="E74C3C"/>
            </a:solidFill>
            <a:prstDash val="solid"/>
          </a:ln>
        </p:spPr>
      </p:sp>
      <p:sp>
        <p:nvSpPr>
          <p:cNvPr id="22" name="Text 20"/>
          <p:cNvSpPr/>
          <p:nvPr/>
        </p:nvSpPr>
        <p:spPr>
          <a:xfrm>
            <a:off x="5029200" y="3703320"/>
            <a:ext cx="3200400" cy="411480"/>
          </a:xfrm>
          <a:prstGeom prst="rect">
            <a:avLst/>
          </a:prstGeom>
          <a:noFill/>
          <a:ln/>
        </p:spPr>
        <p:txBody>
          <a:bodyPr wrap="square" rtlCol="0" anchor="ctr"/>
          <a:lstStyle/>
          <a:p>
            <a:pPr indent="0" marL="0">
              <a:buNone/>
            </a:pPr>
            <a:r>
              <a:rPr lang="en-US" sz="1600" b="1" dirty="0">
                <a:solidFill>
                  <a:srgbClr val="F0F4F8"/>
                </a:solidFill>
                <a:latin typeface="Cambria" pitchFamily="34" charset="0"/>
                <a:ea typeface="Cambria" pitchFamily="34" charset="-122"/>
                <a:cs typeface="Cambria" pitchFamily="34" charset="-120"/>
              </a:rPr>
              <a:t>Iris Virginica</a:t>
            </a:r>
            <a:endParaRPr lang="en-US" sz="1600" dirty="0"/>
          </a:p>
        </p:txBody>
      </p:sp>
      <p:sp>
        <p:nvSpPr>
          <p:cNvPr id="23" name="Text 21"/>
          <p:cNvSpPr/>
          <p:nvPr/>
        </p:nvSpPr>
        <p:spPr>
          <a:xfrm>
            <a:off x="5029200" y="4096512"/>
            <a:ext cx="3200400" cy="274320"/>
          </a:xfrm>
          <a:prstGeom prst="rect">
            <a:avLst/>
          </a:prstGeom>
          <a:noFill/>
          <a:ln/>
        </p:spPr>
        <p:txBody>
          <a:bodyPr wrap="square" rtlCol="0" anchor="ctr"/>
          <a:lstStyle/>
          <a:p>
            <a:pPr indent="0" marL="0">
              <a:buNone/>
            </a:pPr>
            <a:r>
              <a:rPr lang="en-US" sz="1200" dirty="0">
                <a:solidFill>
                  <a:srgbClr val="8B9CB3"/>
                </a:solidFill>
                <a:latin typeface="Calibri" pitchFamily="34" charset="0"/>
                <a:ea typeface="Calibri" pitchFamily="34" charset="-122"/>
                <a:cs typeface="Calibri" pitchFamily="34" charset="-120"/>
              </a:rPr>
              <a:t>50 Samples</a:t>
            </a:r>
            <a:endParaRPr lang="en-US" sz="1200" dirty="0"/>
          </a:p>
        </p:txBody>
      </p:sp>
      <p:sp>
        <p:nvSpPr>
          <p:cNvPr id="24" name="Shape 22"/>
          <p:cNvSpPr/>
          <p:nvPr/>
        </p:nvSpPr>
        <p:spPr>
          <a:xfrm>
            <a:off x="0" y="4892040"/>
            <a:ext cx="9144000" cy="251460"/>
          </a:xfrm>
          <a:prstGeom prst="rect">
            <a:avLst/>
          </a:prstGeom>
          <a:solidFill>
            <a:srgbClr val="D4AC0D"/>
          </a:solidFill>
          <a:ln w="12700">
            <a:solidFill>
              <a:srgbClr val="D4AC0D"/>
            </a:solidFill>
            <a:prstDash val="solid"/>
          </a:ln>
        </p:spPr>
      </p:sp>
      <p:sp>
        <p:nvSpPr>
          <p:cNvPr id="25" name="Text 23"/>
          <p:cNvSpPr/>
          <p:nvPr/>
        </p:nvSpPr>
        <p:spPr>
          <a:xfrm>
            <a:off x="457200" y="4892040"/>
            <a:ext cx="8229600" cy="251460"/>
          </a:xfrm>
          <a:prstGeom prst="rect">
            <a:avLst/>
          </a:prstGeom>
          <a:noFill/>
          <a:ln/>
        </p:spPr>
        <p:txBody>
          <a:bodyPr wrap="square" rtlCol="0" anchor="ctr"/>
          <a:lstStyle/>
          <a:p>
            <a:pPr algn="ctr" indent="0" marL="0">
              <a:buNone/>
            </a:pPr>
            <a:r>
              <a:rPr lang="en-US" sz="900" b="1" dirty="0">
                <a:solidFill>
                  <a:srgbClr val="0D1117"/>
                </a:solidFill>
              </a:rPr>
              <a:t>150 Observations  •  4 Measurements  •  3 Species  •  Classification Analysis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1A5276"/>
          </a:solidFill>
          <a:ln w="12700">
            <a:solidFill>
              <a:srgbClr val="1A5276"/>
            </a:solidFill>
            <a:prstDash val="solid"/>
          </a:ln>
        </p:spPr>
      </p:sp>
      <p:sp>
        <p:nvSpPr>
          <p:cNvPr id="3" name="Text 1"/>
          <p:cNvSpPr/>
          <p:nvPr/>
        </p:nvSpPr>
        <p:spPr>
          <a:xfrm>
            <a:off x="365760" y="36576"/>
            <a:ext cx="8412480" cy="274320"/>
          </a:xfrm>
          <a:prstGeom prst="rect">
            <a:avLst/>
          </a:prstGeom>
          <a:noFill/>
          <a:ln/>
        </p:spPr>
        <p:txBody>
          <a:bodyPr wrap="square" rtlCol="0" anchor="ctr"/>
          <a:lstStyle/>
          <a:p>
            <a:pPr indent="0" marL="0">
              <a:buNone/>
            </a:pPr>
            <a:r>
              <a:rPr lang="en-US" sz="900" b="1" spc="300" kern="0" dirty="0">
                <a:solidFill>
                  <a:srgbClr val="F0F4F8"/>
                </a:solidFill>
              </a:rPr>
              <a:t>BUSINESS PROBLEM  |  SLIDE 2 OF 12</a:t>
            </a:r>
            <a:endParaRPr lang="en-US" sz="900" dirty="0"/>
          </a:p>
        </p:txBody>
      </p:sp>
      <p:sp>
        <p:nvSpPr>
          <p:cNvPr id="4" name="Text 2"/>
          <p:cNvSpPr/>
          <p:nvPr/>
        </p:nvSpPr>
        <p:spPr>
          <a:xfrm>
            <a:off x="411480" y="502920"/>
            <a:ext cx="8321040" cy="685800"/>
          </a:xfrm>
          <a:prstGeom prst="rect">
            <a:avLst/>
          </a:prstGeom>
          <a:noFill/>
          <a:ln/>
        </p:spPr>
        <p:txBody>
          <a:bodyPr wrap="square" rtlCol="0" anchor="t"/>
          <a:lstStyle/>
          <a:p>
            <a:pPr indent="0" marL="0">
              <a:buNone/>
            </a:pPr>
            <a:r>
              <a:rPr lang="en-US" sz="2800" b="1" dirty="0">
                <a:solidFill>
                  <a:srgbClr val="F0F4F8"/>
                </a:solidFill>
                <a:latin typeface="Cambria" pitchFamily="34" charset="0"/>
                <a:ea typeface="Cambria" pitchFamily="34" charset="-122"/>
                <a:cs typeface="Cambria" pitchFamily="34" charset="-120"/>
              </a:rPr>
              <a:t>The Classification Gap in Field Research</a:t>
            </a:r>
            <a:endParaRPr lang="en-US" sz="2800" dirty="0"/>
          </a:p>
        </p:txBody>
      </p:sp>
      <p:sp>
        <p:nvSpPr>
          <p:cNvPr id="5" name="Text 3"/>
          <p:cNvSpPr/>
          <p:nvPr/>
        </p:nvSpPr>
        <p:spPr>
          <a:xfrm>
            <a:off x="411480" y="1143000"/>
            <a:ext cx="8229600" cy="320040"/>
          </a:xfrm>
          <a:prstGeom prst="rect">
            <a:avLst/>
          </a:prstGeom>
          <a:noFill/>
          <a:ln/>
        </p:spPr>
        <p:txBody>
          <a:bodyPr wrap="square" rtlCol="0" anchor="ctr"/>
          <a:lstStyle/>
          <a:p>
            <a:pPr indent="0" marL="0">
              <a:buNone/>
            </a:pPr>
            <a:r>
              <a:rPr lang="en-US" sz="1300" i="1" dirty="0">
                <a:solidFill>
                  <a:srgbClr val="8B9CB3"/>
                </a:solidFill>
                <a:latin typeface="Calibri" pitchFamily="34" charset="0"/>
                <a:ea typeface="Calibri" pitchFamily="34" charset="-122"/>
                <a:cs typeface="Calibri" pitchFamily="34" charset="-120"/>
              </a:rPr>
              <a:t>Why manual species identification fails at scale</a:t>
            </a:r>
            <a:endParaRPr lang="en-US" sz="1300" dirty="0"/>
          </a:p>
        </p:txBody>
      </p:sp>
      <p:sp>
        <p:nvSpPr>
          <p:cNvPr id="6" name="Shape 4"/>
          <p:cNvSpPr/>
          <p:nvPr/>
        </p:nvSpPr>
        <p:spPr>
          <a:xfrm>
            <a:off x="274320" y="1600200"/>
            <a:ext cx="2788920" cy="2743200"/>
          </a:xfrm>
          <a:prstGeom prst="roundRect">
            <a:avLst>
              <a:gd name="adj" fmla="val 2667"/>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7" name="Shape 5"/>
          <p:cNvSpPr/>
          <p:nvPr/>
        </p:nvSpPr>
        <p:spPr>
          <a:xfrm>
            <a:off x="411480" y="1719072"/>
            <a:ext cx="457200" cy="457200"/>
          </a:xfrm>
          <a:prstGeom prst="roundRect">
            <a:avLst>
              <a:gd name="adj" fmla="val 14000"/>
            </a:avLst>
          </a:prstGeom>
          <a:solidFill>
            <a:srgbClr val="1A5276"/>
          </a:solidFill>
          <a:ln w="12700">
            <a:solidFill>
              <a:srgbClr val="1A5276"/>
            </a:solidFill>
            <a:prstDash val="solid"/>
          </a:ln>
        </p:spPr>
      </p:sp>
      <p:sp>
        <p:nvSpPr>
          <p:cNvPr id="8" name="Text 6"/>
          <p:cNvSpPr/>
          <p:nvPr/>
        </p:nvSpPr>
        <p:spPr>
          <a:xfrm>
            <a:off x="411480" y="1719072"/>
            <a:ext cx="457200" cy="45720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9" name="Text 7"/>
          <p:cNvSpPr/>
          <p:nvPr/>
        </p:nvSpPr>
        <p:spPr>
          <a:xfrm>
            <a:off x="411480" y="2286000"/>
            <a:ext cx="2514600" cy="347472"/>
          </a:xfrm>
          <a:prstGeom prst="rect">
            <a:avLst/>
          </a:prstGeom>
          <a:noFill/>
          <a:ln/>
        </p:spPr>
        <p:txBody>
          <a:bodyPr wrap="square" rtlCol="0" anchor="ctr"/>
          <a:lstStyle/>
          <a:p>
            <a:pPr indent="0" marL="0">
              <a:buNone/>
            </a:pPr>
            <a:r>
              <a:rPr lang="en-US" sz="1400" b="1" dirty="0">
                <a:solidFill>
                  <a:srgbClr val="D4AC0D"/>
                </a:solidFill>
                <a:latin typeface="Cambria" pitchFamily="34" charset="0"/>
                <a:ea typeface="Cambria" pitchFamily="34" charset="-122"/>
                <a:cs typeface="Cambria" pitchFamily="34" charset="-120"/>
              </a:rPr>
              <a:t>The Problem</a:t>
            </a:r>
            <a:endParaRPr lang="en-US" sz="1400" dirty="0"/>
          </a:p>
        </p:txBody>
      </p:sp>
      <p:sp>
        <p:nvSpPr>
          <p:cNvPr id="10" name="Text 8"/>
          <p:cNvSpPr/>
          <p:nvPr/>
        </p:nvSpPr>
        <p:spPr>
          <a:xfrm>
            <a:off x="411480" y="2670048"/>
            <a:ext cx="2514600" cy="1554480"/>
          </a:xfrm>
          <a:prstGeom prst="rect">
            <a:avLst/>
          </a:prstGeom>
          <a:noFill/>
          <a:ln/>
        </p:spPr>
        <p:txBody>
          <a:bodyPr wrap="square" rtlCol="0" anchor="t"/>
          <a:lstStyle/>
          <a:p>
            <a:pPr indent="0" marL="0">
              <a:buNone/>
            </a:pPr>
            <a:r>
              <a:rPr lang="en-US" sz="1100" dirty="0">
                <a:solidFill>
                  <a:srgbClr val="F0F4F8"/>
                </a:solidFill>
                <a:latin typeface="Calibri" pitchFamily="34" charset="0"/>
                <a:ea typeface="Calibri" pitchFamily="34" charset="-122"/>
                <a:cs typeface="Calibri" pitchFamily="34" charset="-120"/>
              </a:rPr>
              <a:t>Field botanists classify Iris species manually using subjective visual cues. This process is slow, inconsistent across observers, and prone to error — especially for Versicolor and Virginica, which share similar sepal dimensions.</a:t>
            </a:r>
            <a:endParaRPr lang="en-US" sz="1100" dirty="0"/>
          </a:p>
        </p:txBody>
      </p:sp>
      <p:sp>
        <p:nvSpPr>
          <p:cNvPr id="11" name="Shape 9"/>
          <p:cNvSpPr/>
          <p:nvPr/>
        </p:nvSpPr>
        <p:spPr>
          <a:xfrm>
            <a:off x="3218688" y="1600200"/>
            <a:ext cx="2788920" cy="2743200"/>
          </a:xfrm>
          <a:prstGeom prst="roundRect">
            <a:avLst>
              <a:gd name="adj" fmla="val 2667"/>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12" name="Shape 10"/>
          <p:cNvSpPr/>
          <p:nvPr/>
        </p:nvSpPr>
        <p:spPr>
          <a:xfrm>
            <a:off x="3355848" y="1719072"/>
            <a:ext cx="457200" cy="457200"/>
          </a:xfrm>
          <a:prstGeom prst="roundRect">
            <a:avLst>
              <a:gd name="adj" fmla="val 14000"/>
            </a:avLst>
          </a:prstGeom>
          <a:solidFill>
            <a:srgbClr val="1A5276"/>
          </a:solidFill>
          <a:ln w="12700">
            <a:solidFill>
              <a:srgbClr val="1A5276"/>
            </a:solidFill>
            <a:prstDash val="solid"/>
          </a:ln>
        </p:spPr>
      </p:sp>
      <p:sp>
        <p:nvSpPr>
          <p:cNvPr id="13" name="Text 11"/>
          <p:cNvSpPr/>
          <p:nvPr/>
        </p:nvSpPr>
        <p:spPr>
          <a:xfrm>
            <a:off x="3355848" y="1719072"/>
            <a:ext cx="457200" cy="45720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4" name="Text 12"/>
          <p:cNvSpPr/>
          <p:nvPr/>
        </p:nvSpPr>
        <p:spPr>
          <a:xfrm>
            <a:off x="3355848" y="2286000"/>
            <a:ext cx="2514600" cy="347472"/>
          </a:xfrm>
          <a:prstGeom prst="rect">
            <a:avLst/>
          </a:prstGeom>
          <a:noFill/>
          <a:ln/>
        </p:spPr>
        <p:txBody>
          <a:bodyPr wrap="square" rtlCol="0" anchor="ctr"/>
          <a:lstStyle/>
          <a:p>
            <a:pPr indent="0" marL="0">
              <a:buNone/>
            </a:pPr>
            <a:r>
              <a:rPr lang="en-US" sz="1400" b="1" dirty="0">
                <a:solidFill>
                  <a:srgbClr val="D4AC0D"/>
                </a:solidFill>
                <a:latin typeface="Cambria" pitchFamily="34" charset="0"/>
                <a:ea typeface="Cambria" pitchFamily="34" charset="-122"/>
                <a:cs typeface="Cambria" pitchFamily="34" charset="-120"/>
              </a:rPr>
              <a:t>The Stakeholder</a:t>
            </a:r>
            <a:endParaRPr lang="en-US" sz="1400" dirty="0"/>
          </a:p>
        </p:txBody>
      </p:sp>
      <p:sp>
        <p:nvSpPr>
          <p:cNvPr id="15" name="Text 13"/>
          <p:cNvSpPr/>
          <p:nvPr/>
        </p:nvSpPr>
        <p:spPr>
          <a:xfrm>
            <a:off x="3355848" y="2670048"/>
            <a:ext cx="2514600" cy="1554480"/>
          </a:xfrm>
          <a:prstGeom prst="rect">
            <a:avLst/>
          </a:prstGeom>
          <a:noFill/>
          <a:ln/>
        </p:spPr>
        <p:txBody>
          <a:bodyPr wrap="square" rtlCol="0" anchor="t"/>
          <a:lstStyle/>
          <a:p>
            <a:pPr indent="0" marL="0">
              <a:buNone/>
            </a:pPr>
            <a:r>
              <a:rPr lang="en-US" sz="1100" dirty="0">
                <a:solidFill>
                  <a:srgbClr val="F0F4F8"/>
                </a:solidFill>
                <a:latin typeface="Calibri" pitchFamily="34" charset="0"/>
                <a:ea typeface="Calibri" pitchFamily="34" charset="-122"/>
                <a:cs typeface="Calibri" pitchFamily="34" charset="-120"/>
              </a:rPr>
              <a:t>Botanical survey teams, conservation researchers, and university field programs that require accurate, reproducible species records for ecological analysis and policy reporting.</a:t>
            </a:r>
            <a:endParaRPr lang="en-US" sz="1100" dirty="0"/>
          </a:p>
        </p:txBody>
      </p:sp>
      <p:sp>
        <p:nvSpPr>
          <p:cNvPr id="16" name="Shape 14"/>
          <p:cNvSpPr/>
          <p:nvPr/>
        </p:nvSpPr>
        <p:spPr>
          <a:xfrm>
            <a:off x="6163056" y="1600200"/>
            <a:ext cx="2788920" cy="2743200"/>
          </a:xfrm>
          <a:prstGeom prst="roundRect">
            <a:avLst>
              <a:gd name="adj" fmla="val 2667"/>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17" name="Shape 15"/>
          <p:cNvSpPr/>
          <p:nvPr/>
        </p:nvSpPr>
        <p:spPr>
          <a:xfrm>
            <a:off x="6300216" y="1719072"/>
            <a:ext cx="457200" cy="457200"/>
          </a:xfrm>
          <a:prstGeom prst="roundRect">
            <a:avLst>
              <a:gd name="adj" fmla="val 14000"/>
            </a:avLst>
          </a:prstGeom>
          <a:solidFill>
            <a:srgbClr val="1A5276"/>
          </a:solidFill>
          <a:ln w="12700">
            <a:solidFill>
              <a:srgbClr val="1A5276"/>
            </a:solidFill>
            <a:prstDash val="solid"/>
          </a:ln>
        </p:spPr>
      </p:sp>
      <p:sp>
        <p:nvSpPr>
          <p:cNvPr id="18" name="Text 16"/>
          <p:cNvSpPr/>
          <p:nvPr/>
        </p:nvSpPr>
        <p:spPr>
          <a:xfrm>
            <a:off x="6300216" y="1719072"/>
            <a:ext cx="457200" cy="45720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9" name="Text 17"/>
          <p:cNvSpPr/>
          <p:nvPr/>
        </p:nvSpPr>
        <p:spPr>
          <a:xfrm>
            <a:off x="6300216" y="2286000"/>
            <a:ext cx="2514600" cy="347472"/>
          </a:xfrm>
          <a:prstGeom prst="rect">
            <a:avLst/>
          </a:prstGeom>
          <a:noFill/>
          <a:ln/>
        </p:spPr>
        <p:txBody>
          <a:bodyPr wrap="square" rtlCol="0" anchor="ctr"/>
          <a:lstStyle/>
          <a:p>
            <a:pPr indent="0" marL="0">
              <a:buNone/>
            </a:pPr>
            <a:r>
              <a:rPr lang="en-US" sz="1400" b="1" dirty="0">
                <a:solidFill>
                  <a:srgbClr val="D4AC0D"/>
                </a:solidFill>
                <a:latin typeface="Cambria" pitchFamily="34" charset="0"/>
                <a:ea typeface="Cambria" pitchFamily="34" charset="-122"/>
                <a:cs typeface="Cambria" pitchFamily="34" charset="-120"/>
              </a:rPr>
              <a:t>Why It Matters</a:t>
            </a:r>
            <a:endParaRPr lang="en-US" sz="1400" dirty="0"/>
          </a:p>
        </p:txBody>
      </p:sp>
      <p:sp>
        <p:nvSpPr>
          <p:cNvPr id="20" name="Text 18"/>
          <p:cNvSpPr/>
          <p:nvPr/>
        </p:nvSpPr>
        <p:spPr>
          <a:xfrm>
            <a:off x="6300216" y="2670048"/>
            <a:ext cx="2514600" cy="1554480"/>
          </a:xfrm>
          <a:prstGeom prst="rect">
            <a:avLst/>
          </a:prstGeom>
          <a:noFill/>
          <a:ln/>
        </p:spPr>
        <p:txBody>
          <a:bodyPr wrap="square" rtlCol="0" anchor="t"/>
          <a:lstStyle/>
          <a:p>
            <a:pPr indent="0" marL="0">
              <a:buNone/>
            </a:pPr>
            <a:r>
              <a:rPr lang="en-US" sz="1100" dirty="0">
                <a:solidFill>
                  <a:srgbClr val="F0F4F8"/>
                </a:solidFill>
                <a:latin typeface="Calibri" pitchFamily="34" charset="0"/>
                <a:ea typeface="Calibri" pitchFamily="34" charset="-122"/>
                <a:cs typeface="Calibri" pitchFamily="34" charset="-120"/>
              </a:rPr>
              <a:t>Misclassification skews biodiversity data, undermines research credibility, and creates cascading errors in downstream ecological models. A single field session can produce dozens of misclassified entries.</a:t>
            </a:r>
            <a:endParaRPr lang="en-US" sz="1100" dirty="0"/>
          </a:p>
        </p:txBody>
      </p:sp>
      <p:sp>
        <p:nvSpPr>
          <p:cNvPr id="21" name="Shape 19"/>
          <p:cNvSpPr/>
          <p:nvPr/>
        </p:nvSpPr>
        <p:spPr>
          <a:xfrm>
            <a:off x="274320" y="4462272"/>
            <a:ext cx="8595360" cy="502920"/>
          </a:xfrm>
          <a:prstGeom prst="roundRect">
            <a:avLst>
              <a:gd name="adj" fmla="val 14545"/>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22" name="Text 20"/>
          <p:cNvSpPr/>
          <p:nvPr/>
        </p:nvSpPr>
        <p:spPr>
          <a:xfrm>
            <a:off x="457200" y="4498848"/>
            <a:ext cx="8229600" cy="429768"/>
          </a:xfrm>
          <a:prstGeom prst="rect">
            <a:avLst/>
          </a:prstGeom>
          <a:noFill/>
          <a:ln/>
        </p:spPr>
        <p:txBody>
          <a:bodyPr wrap="square" rtlCol="0" anchor="ctr"/>
          <a:lstStyle/>
          <a:p>
            <a:pPr indent="0" marL="0">
              <a:buNone/>
            </a:pPr>
            <a:r>
              <a:rPr lang="en-US" sz="1200" b="1" dirty="0">
                <a:solidFill>
                  <a:srgbClr val="D4AC0D"/>
                </a:solidFill>
                <a:latin typeface="Calibri" pitchFamily="34" charset="0"/>
                <a:ea typeface="Calibri" pitchFamily="34" charset="-122"/>
                <a:cs typeface="Calibri" pitchFamily="34" charset="-120"/>
              </a:rPr>
              <a:t>Our Solution:  </a:t>
            </a:r>
            <a:pPr indent="0" marL="0">
              <a:buNone/>
            </a:pPr>
            <a:r>
              <a:rPr lang="en-US" sz="1200" dirty="0">
                <a:solidFill>
                  <a:srgbClr val="F0F4F8"/>
                </a:solidFill>
                <a:latin typeface="Calibri" pitchFamily="34" charset="0"/>
                <a:ea typeface="Calibri" pitchFamily="34" charset="-122"/>
                <a:cs typeface="Calibri" pitchFamily="34" charset="-120"/>
              </a:rPr>
              <a:t>Analyze 150 flower measurements across 4 dimensions to reveal quantifiable species boundaries — enabling a replicable, data-backed identification framework any field researcher can apply.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1A5276"/>
          </a:solidFill>
          <a:ln w="12700">
            <a:solidFill>
              <a:srgbClr val="1A5276"/>
            </a:solidFill>
            <a:prstDash val="solid"/>
          </a:ln>
        </p:spPr>
      </p:sp>
      <p:sp>
        <p:nvSpPr>
          <p:cNvPr id="3" name="Text 1"/>
          <p:cNvSpPr/>
          <p:nvPr/>
        </p:nvSpPr>
        <p:spPr>
          <a:xfrm>
            <a:off x="365760" y="36576"/>
            <a:ext cx="8412480" cy="274320"/>
          </a:xfrm>
          <a:prstGeom prst="rect">
            <a:avLst/>
          </a:prstGeom>
          <a:noFill/>
          <a:ln/>
        </p:spPr>
        <p:txBody>
          <a:bodyPr wrap="square" rtlCol="0" anchor="ctr"/>
          <a:lstStyle/>
          <a:p>
            <a:pPr indent="0" marL="0">
              <a:buNone/>
            </a:pPr>
            <a:r>
              <a:rPr lang="en-US" sz="900" b="1" spc="300" kern="0" dirty="0">
                <a:solidFill>
                  <a:srgbClr val="F0F4F8"/>
                </a:solidFill>
              </a:rPr>
              <a:t>DATA OVERVIEW  |  SLIDE 3 OF 12</a:t>
            </a:r>
            <a:endParaRPr lang="en-US" sz="900" dirty="0"/>
          </a:p>
        </p:txBody>
      </p:sp>
      <p:sp>
        <p:nvSpPr>
          <p:cNvPr id="4" name="Text 2"/>
          <p:cNvSpPr/>
          <p:nvPr/>
        </p:nvSpPr>
        <p:spPr>
          <a:xfrm>
            <a:off x="411480" y="502920"/>
            <a:ext cx="8321040" cy="594360"/>
          </a:xfrm>
          <a:prstGeom prst="rect">
            <a:avLst/>
          </a:prstGeom>
          <a:noFill/>
          <a:ln/>
        </p:spPr>
        <p:txBody>
          <a:bodyPr wrap="square" rtlCol="0" anchor="t"/>
          <a:lstStyle/>
          <a:p>
            <a:pPr indent="0" marL="0">
              <a:buNone/>
            </a:pPr>
            <a:r>
              <a:rPr lang="en-US" sz="2800" b="1" dirty="0">
                <a:solidFill>
                  <a:srgbClr val="F0F4F8"/>
                </a:solidFill>
                <a:latin typeface="Cambria" pitchFamily="34" charset="0"/>
                <a:ea typeface="Cambria" pitchFamily="34" charset="-122"/>
                <a:cs typeface="Cambria" pitchFamily="34" charset="-120"/>
              </a:rPr>
              <a:t>Dataset at a Glance</a:t>
            </a:r>
            <a:endParaRPr lang="en-US" sz="2800" dirty="0"/>
          </a:p>
        </p:txBody>
      </p:sp>
      <p:sp>
        <p:nvSpPr>
          <p:cNvPr id="5" name="Shape 3"/>
          <p:cNvSpPr/>
          <p:nvPr/>
        </p:nvSpPr>
        <p:spPr>
          <a:xfrm>
            <a:off x="274320" y="1188720"/>
            <a:ext cx="1965960" cy="1143000"/>
          </a:xfrm>
          <a:prstGeom prst="roundRect">
            <a:avLst>
              <a:gd name="adj" fmla="val 6400"/>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6" name="Text 4"/>
          <p:cNvSpPr/>
          <p:nvPr/>
        </p:nvSpPr>
        <p:spPr>
          <a:xfrm>
            <a:off x="274320" y="1261872"/>
            <a:ext cx="1965960" cy="566928"/>
          </a:xfrm>
          <a:prstGeom prst="rect">
            <a:avLst/>
          </a:prstGeom>
          <a:noFill/>
          <a:ln/>
        </p:spPr>
        <p:txBody>
          <a:bodyPr wrap="square" rtlCol="0" anchor="ctr"/>
          <a:lstStyle/>
          <a:p>
            <a:pPr algn="ctr" indent="0" marL="0">
              <a:buNone/>
            </a:pPr>
            <a:r>
              <a:rPr lang="en-US" sz="3600" b="1" dirty="0">
                <a:solidFill>
                  <a:srgbClr val="1A5276"/>
                </a:solidFill>
                <a:latin typeface="Cambria" pitchFamily="34" charset="0"/>
                <a:ea typeface="Cambria" pitchFamily="34" charset="-122"/>
                <a:cs typeface="Cambria" pitchFamily="34" charset="-120"/>
              </a:rPr>
              <a:t>150</a:t>
            </a:r>
            <a:endParaRPr lang="en-US" sz="3600" dirty="0"/>
          </a:p>
        </p:txBody>
      </p:sp>
      <p:sp>
        <p:nvSpPr>
          <p:cNvPr id="7" name="Text 5"/>
          <p:cNvSpPr/>
          <p:nvPr/>
        </p:nvSpPr>
        <p:spPr>
          <a:xfrm>
            <a:off x="274320" y="1810512"/>
            <a:ext cx="1965960" cy="384048"/>
          </a:xfrm>
          <a:prstGeom prst="rect">
            <a:avLst/>
          </a:prstGeom>
          <a:noFill/>
          <a:ln/>
        </p:spPr>
        <p:txBody>
          <a:bodyPr wrap="square" rtlCol="0" anchor="ctr"/>
          <a:lstStyle/>
          <a:p>
            <a:pPr algn="ctr" indent="0" marL="0">
              <a:buNone/>
            </a:pPr>
            <a:r>
              <a:rPr lang="en-US" sz="1100" dirty="0">
                <a:solidFill>
                  <a:srgbClr val="8B9CB3"/>
                </a:solidFill>
                <a:latin typeface="Calibri" pitchFamily="34" charset="0"/>
                <a:ea typeface="Calibri" pitchFamily="34" charset="-122"/>
                <a:cs typeface="Calibri" pitchFamily="34" charset="-120"/>
              </a:rPr>
              <a:t>Flower Observations</a:t>
            </a:r>
            <a:endParaRPr lang="en-US" sz="1100" dirty="0"/>
          </a:p>
        </p:txBody>
      </p:sp>
      <p:sp>
        <p:nvSpPr>
          <p:cNvPr id="8" name="Shape 6"/>
          <p:cNvSpPr/>
          <p:nvPr/>
        </p:nvSpPr>
        <p:spPr>
          <a:xfrm>
            <a:off x="2450592" y="1188720"/>
            <a:ext cx="1965960" cy="1143000"/>
          </a:xfrm>
          <a:prstGeom prst="roundRect">
            <a:avLst>
              <a:gd name="adj" fmla="val 6400"/>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9" name="Text 7"/>
          <p:cNvSpPr/>
          <p:nvPr/>
        </p:nvSpPr>
        <p:spPr>
          <a:xfrm>
            <a:off x="2450592" y="1261872"/>
            <a:ext cx="1965960" cy="566928"/>
          </a:xfrm>
          <a:prstGeom prst="rect">
            <a:avLst/>
          </a:prstGeom>
          <a:noFill/>
          <a:ln/>
        </p:spPr>
        <p:txBody>
          <a:bodyPr wrap="square" rtlCol="0" anchor="ctr"/>
          <a:lstStyle/>
          <a:p>
            <a:pPr algn="ctr" indent="0" marL="0">
              <a:buNone/>
            </a:pPr>
            <a:r>
              <a:rPr lang="en-US" sz="3600" b="1" dirty="0">
                <a:solidFill>
                  <a:srgbClr val="148F77"/>
                </a:solidFill>
                <a:latin typeface="Cambria" pitchFamily="34" charset="0"/>
                <a:ea typeface="Cambria" pitchFamily="34" charset="-122"/>
                <a:cs typeface="Cambria" pitchFamily="34" charset="-120"/>
              </a:rPr>
              <a:t>4</a:t>
            </a:r>
            <a:endParaRPr lang="en-US" sz="3600" dirty="0"/>
          </a:p>
        </p:txBody>
      </p:sp>
      <p:sp>
        <p:nvSpPr>
          <p:cNvPr id="10" name="Text 8"/>
          <p:cNvSpPr/>
          <p:nvPr/>
        </p:nvSpPr>
        <p:spPr>
          <a:xfrm>
            <a:off x="2450592" y="1810512"/>
            <a:ext cx="1965960" cy="384048"/>
          </a:xfrm>
          <a:prstGeom prst="rect">
            <a:avLst/>
          </a:prstGeom>
          <a:noFill/>
          <a:ln/>
        </p:spPr>
        <p:txBody>
          <a:bodyPr wrap="square" rtlCol="0" anchor="ctr"/>
          <a:lstStyle/>
          <a:p>
            <a:pPr algn="ctr" indent="0" marL="0">
              <a:buNone/>
            </a:pPr>
            <a:r>
              <a:rPr lang="en-US" sz="1100" dirty="0">
                <a:solidFill>
                  <a:srgbClr val="8B9CB3"/>
                </a:solidFill>
                <a:latin typeface="Calibri" pitchFamily="34" charset="0"/>
                <a:ea typeface="Calibri" pitchFamily="34" charset="-122"/>
                <a:cs typeface="Calibri" pitchFamily="34" charset="-120"/>
              </a:rPr>
              <a:t>Measured Dimensions</a:t>
            </a:r>
            <a:endParaRPr lang="en-US" sz="1100" dirty="0"/>
          </a:p>
        </p:txBody>
      </p:sp>
      <p:sp>
        <p:nvSpPr>
          <p:cNvPr id="11" name="Shape 9"/>
          <p:cNvSpPr/>
          <p:nvPr/>
        </p:nvSpPr>
        <p:spPr>
          <a:xfrm>
            <a:off x="4626864" y="1188720"/>
            <a:ext cx="1965960" cy="1143000"/>
          </a:xfrm>
          <a:prstGeom prst="roundRect">
            <a:avLst>
              <a:gd name="adj" fmla="val 6400"/>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12" name="Text 10"/>
          <p:cNvSpPr/>
          <p:nvPr/>
        </p:nvSpPr>
        <p:spPr>
          <a:xfrm>
            <a:off x="4626864" y="1261872"/>
            <a:ext cx="1965960" cy="566928"/>
          </a:xfrm>
          <a:prstGeom prst="rect">
            <a:avLst/>
          </a:prstGeom>
          <a:noFill/>
          <a:ln/>
        </p:spPr>
        <p:txBody>
          <a:bodyPr wrap="square" rtlCol="0" anchor="ctr"/>
          <a:lstStyle/>
          <a:p>
            <a:pPr algn="ctr" indent="0" marL="0">
              <a:buNone/>
            </a:pPr>
            <a:r>
              <a:rPr lang="en-US" sz="3600" b="1" dirty="0">
                <a:solidFill>
                  <a:srgbClr val="D4AC0D"/>
                </a:solidFill>
                <a:latin typeface="Cambria" pitchFamily="34" charset="0"/>
                <a:ea typeface="Cambria" pitchFamily="34" charset="-122"/>
                <a:cs typeface="Cambria" pitchFamily="34" charset="-120"/>
              </a:rPr>
              <a:t>3</a:t>
            </a:r>
            <a:endParaRPr lang="en-US" sz="3600" dirty="0"/>
          </a:p>
        </p:txBody>
      </p:sp>
      <p:sp>
        <p:nvSpPr>
          <p:cNvPr id="13" name="Text 11"/>
          <p:cNvSpPr/>
          <p:nvPr/>
        </p:nvSpPr>
        <p:spPr>
          <a:xfrm>
            <a:off x="4626864" y="1810512"/>
            <a:ext cx="1965960" cy="384048"/>
          </a:xfrm>
          <a:prstGeom prst="rect">
            <a:avLst/>
          </a:prstGeom>
          <a:noFill/>
          <a:ln/>
        </p:spPr>
        <p:txBody>
          <a:bodyPr wrap="square" rtlCol="0" anchor="ctr"/>
          <a:lstStyle/>
          <a:p>
            <a:pPr algn="ctr" indent="0" marL="0">
              <a:buNone/>
            </a:pPr>
            <a:r>
              <a:rPr lang="en-US" sz="1100" dirty="0">
                <a:solidFill>
                  <a:srgbClr val="8B9CB3"/>
                </a:solidFill>
                <a:latin typeface="Calibri" pitchFamily="34" charset="0"/>
                <a:ea typeface="Calibri" pitchFamily="34" charset="-122"/>
                <a:cs typeface="Calibri" pitchFamily="34" charset="-120"/>
              </a:rPr>
              <a:t>Iris Species</a:t>
            </a:r>
            <a:endParaRPr lang="en-US" sz="1100" dirty="0"/>
          </a:p>
        </p:txBody>
      </p:sp>
      <p:sp>
        <p:nvSpPr>
          <p:cNvPr id="14" name="Shape 12"/>
          <p:cNvSpPr/>
          <p:nvPr/>
        </p:nvSpPr>
        <p:spPr>
          <a:xfrm>
            <a:off x="6803136" y="1188720"/>
            <a:ext cx="1965960" cy="1143000"/>
          </a:xfrm>
          <a:prstGeom prst="roundRect">
            <a:avLst>
              <a:gd name="adj" fmla="val 6400"/>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15" name="Text 13"/>
          <p:cNvSpPr/>
          <p:nvPr/>
        </p:nvSpPr>
        <p:spPr>
          <a:xfrm>
            <a:off x="6803136" y="1261872"/>
            <a:ext cx="1965960" cy="566928"/>
          </a:xfrm>
          <a:prstGeom prst="rect">
            <a:avLst/>
          </a:prstGeom>
          <a:noFill/>
          <a:ln/>
        </p:spPr>
        <p:txBody>
          <a:bodyPr wrap="square" rtlCol="0" anchor="ctr"/>
          <a:lstStyle/>
          <a:p>
            <a:pPr algn="ctr" indent="0" marL="0">
              <a:buNone/>
            </a:pPr>
            <a:r>
              <a:rPr lang="en-US" sz="3600" b="1" dirty="0">
                <a:solidFill>
                  <a:srgbClr val="27AE60"/>
                </a:solidFill>
                <a:latin typeface="Cambria" pitchFamily="34" charset="0"/>
                <a:ea typeface="Cambria" pitchFamily="34" charset="-122"/>
                <a:cs typeface="Cambria" pitchFamily="34" charset="-120"/>
              </a:rPr>
              <a:t>0</a:t>
            </a:r>
            <a:endParaRPr lang="en-US" sz="3600" dirty="0"/>
          </a:p>
        </p:txBody>
      </p:sp>
      <p:sp>
        <p:nvSpPr>
          <p:cNvPr id="16" name="Text 14"/>
          <p:cNvSpPr/>
          <p:nvPr/>
        </p:nvSpPr>
        <p:spPr>
          <a:xfrm>
            <a:off x="6803136" y="1810512"/>
            <a:ext cx="1965960" cy="384048"/>
          </a:xfrm>
          <a:prstGeom prst="rect">
            <a:avLst/>
          </a:prstGeom>
          <a:noFill/>
          <a:ln/>
        </p:spPr>
        <p:txBody>
          <a:bodyPr wrap="square" rtlCol="0" anchor="ctr"/>
          <a:lstStyle/>
          <a:p>
            <a:pPr algn="ctr" indent="0" marL="0">
              <a:buNone/>
            </a:pPr>
            <a:r>
              <a:rPr lang="en-US" sz="1100" dirty="0">
                <a:solidFill>
                  <a:srgbClr val="8B9CB3"/>
                </a:solidFill>
                <a:latin typeface="Calibri" pitchFamily="34" charset="0"/>
                <a:ea typeface="Calibri" pitchFamily="34" charset="-122"/>
                <a:cs typeface="Calibri" pitchFamily="34" charset="-120"/>
              </a:rPr>
              <a:t>Missing Values</a:t>
            </a:r>
            <a:endParaRPr lang="en-US" sz="1100" dirty="0"/>
          </a:p>
        </p:txBody>
      </p:sp>
      <p:sp>
        <p:nvSpPr>
          <p:cNvPr id="17" name="Text 15"/>
          <p:cNvSpPr/>
          <p:nvPr/>
        </p:nvSpPr>
        <p:spPr>
          <a:xfrm>
            <a:off x="411480" y="2487168"/>
            <a:ext cx="4114800" cy="274320"/>
          </a:xfrm>
          <a:prstGeom prst="rect">
            <a:avLst/>
          </a:prstGeom>
          <a:noFill/>
          <a:ln/>
        </p:spPr>
        <p:txBody>
          <a:bodyPr wrap="square" rtlCol="0" anchor="ctr"/>
          <a:lstStyle/>
          <a:p>
            <a:pPr indent="0" marL="0">
              <a:buNone/>
            </a:pPr>
            <a:r>
              <a:rPr lang="en-US" sz="900" b="1" spc="200" kern="0" dirty="0">
                <a:solidFill>
                  <a:srgbClr val="D4AC0D"/>
                </a:solidFill>
                <a:latin typeface="Calibri" pitchFamily="34" charset="0"/>
                <a:ea typeface="Calibri" pitchFamily="34" charset="-122"/>
                <a:cs typeface="Calibri" pitchFamily="34" charset="-120"/>
              </a:rPr>
              <a:t>MEASUREMENT DIMENSIONS</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2816352"/>
          <a:ext cx="4846320" cy="2148840"/>
        </p:xfrm>
        <a:graphic>
          <a:graphicData uri="http://schemas.openxmlformats.org/drawingml/2006/table">
            <a:tbl>
              <a:tblPr/>
              <a:tblGrid>
                <a:gridCol w="1463040"/>
                <a:gridCol w="2011680"/>
                <a:gridCol w="1280160"/>
              </a:tblGrid>
              <a:tr h="429768">
                <a:tc>
                  <a:txBody>
                    <a:bodyPr/>
                    <a:lstStyle/>
                    <a:p>
                      <a:pPr indent="0" marL="0">
                        <a:buNone/>
                      </a:pPr>
                      <a:r>
                        <a:rPr lang="en-US" sz="1000" b="1" dirty="0">
                          <a:solidFill>
                            <a:srgbClr val="0D1117"/>
                          </a:solidFill>
                        </a:rPr>
                        <a:t>Measurement</a:t>
                      </a:r>
                      <a:endParaRPr lang="en-US" sz="1000" dirty="0"/>
                    </a:p>
                  </a:txBody>
                  <a:tcPr marL="91440" marR="91440" marT="45720" marB="45720">
                    <a:lnL w="12700" cap="flat" cmpd="sng" algn="ctr">
                      <a:solidFill>
                        <a:srgbClr val="2C3347"/>
                      </a:solidFill>
                      <a:prstDash val="solid"/>
                      <a:round/>
                      <a:headEnd type="none" w="med" len="med"/>
                      <a:tailEnd type="none" w="med" len="med"/>
                    </a:lnL>
                    <a:lnR w="12700" cap="flat" cmpd="sng" algn="ctr">
                      <a:solidFill>
                        <a:srgbClr val="2C3347"/>
                      </a:solidFill>
                      <a:prstDash val="solid"/>
                      <a:round/>
                      <a:headEnd type="none" w="med" len="med"/>
                      <a:tailEnd type="none" w="med" len="med"/>
                    </a:lnR>
                    <a:lnT w="12700" cap="flat" cmpd="sng" algn="ctr">
                      <a:solidFill>
                        <a:srgbClr val="2C3347"/>
                      </a:solidFill>
                      <a:prstDash val="solid"/>
                      <a:round/>
                      <a:headEnd type="none" w="med" len="med"/>
                      <a:tailEnd type="none" w="med" len="med"/>
                    </a:lnT>
                    <a:lnB w="12700" cap="flat" cmpd="sng" algn="ctr">
                      <a:solidFill>
                        <a:srgbClr val="2C3347"/>
                      </a:solidFill>
                      <a:prstDash val="solid"/>
                      <a:round/>
                      <a:headEnd type="none" w="med" len="med"/>
                      <a:tailEnd type="none" w="med" len="med"/>
                    </a:lnB>
                    <a:solidFill>
                      <a:srgbClr val="1A5276"/>
                    </a:solidFill>
                  </a:tcPr>
                </a:tc>
                <a:tc>
                  <a:txBody>
                    <a:bodyPr/>
                    <a:lstStyle/>
                    <a:p>
                      <a:pPr indent="0" marL="0">
                        <a:buNone/>
                      </a:pPr>
                      <a:r>
                        <a:rPr lang="en-US" sz="1000" b="1" dirty="0">
                          <a:solidFill>
                            <a:srgbClr val="0D1117"/>
                          </a:solidFill>
                        </a:rPr>
                        <a:t>Description</a:t>
                      </a:r>
                      <a:endParaRPr lang="en-US" sz="1000" dirty="0"/>
                    </a:p>
                  </a:txBody>
                  <a:tcPr marL="91440" marR="91440" marT="45720" marB="45720">
                    <a:lnL w="12700" cap="flat" cmpd="sng" algn="ctr">
                      <a:solidFill>
                        <a:srgbClr val="2C3347"/>
                      </a:solidFill>
                      <a:prstDash val="solid"/>
                      <a:round/>
                      <a:headEnd type="none" w="med" len="med"/>
                      <a:tailEnd type="none" w="med" len="med"/>
                    </a:lnL>
                    <a:lnR w="12700" cap="flat" cmpd="sng" algn="ctr">
                      <a:solidFill>
                        <a:srgbClr val="2C3347"/>
                      </a:solidFill>
                      <a:prstDash val="solid"/>
                      <a:round/>
                      <a:headEnd type="none" w="med" len="med"/>
                      <a:tailEnd type="none" w="med" len="med"/>
                    </a:lnR>
                    <a:lnT w="12700" cap="flat" cmpd="sng" algn="ctr">
                      <a:solidFill>
                        <a:srgbClr val="2C3347"/>
                      </a:solidFill>
                      <a:prstDash val="solid"/>
                      <a:round/>
                      <a:headEnd type="none" w="med" len="med"/>
                      <a:tailEnd type="none" w="med" len="med"/>
                    </a:lnT>
                    <a:lnB w="12700" cap="flat" cmpd="sng" algn="ctr">
                      <a:solidFill>
                        <a:srgbClr val="2C3347"/>
                      </a:solidFill>
                      <a:prstDash val="solid"/>
                      <a:round/>
                      <a:headEnd type="none" w="med" len="med"/>
                      <a:tailEnd type="none" w="med" len="med"/>
                    </a:lnB>
                    <a:solidFill>
                      <a:srgbClr val="1A5276"/>
                    </a:solidFill>
                  </a:tcPr>
                </a:tc>
                <a:tc>
                  <a:txBody>
                    <a:bodyPr/>
                    <a:lstStyle/>
                    <a:p>
                      <a:pPr indent="0" marL="0">
                        <a:buNone/>
                      </a:pPr>
                      <a:r>
                        <a:rPr lang="en-US" sz="1000" b="1" dirty="0">
                          <a:solidFill>
                            <a:srgbClr val="0D1117"/>
                          </a:solidFill>
                        </a:rPr>
                        <a:t>Range</a:t>
                      </a:r>
                      <a:endParaRPr lang="en-US" sz="1000" dirty="0"/>
                    </a:p>
                  </a:txBody>
                  <a:tcPr marL="91440" marR="91440" marT="45720" marB="45720">
                    <a:lnL w="12700" cap="flat" cmpd="sng" algn="ctr">
                      <a:solidFill>
                        <a:srgbClr val="2C3347"/>
                      </a:solidFill>
                      <a:prstDash val="solid"/>
                      <a:round/>
                      <a:headEnd type="none" w="med" len="med"/>
                      <a:tailEnd type="none" w="med" len="med"/>
                    </a:lnL>
                    <a:lnR w="12700" cap="flat" cmpd="sng" algn="ctr">
                      <a:solidFill>
                        <a:srgbClr val="2C3347"/>
                      </a:solidFill>
                      <a:prstDash val="solid"/>
                      <a:round/>
                      <a:headEnd type="none" w="med" len="med"/>
                      <a:tailEnd type="none" w="med" len="med"/>
                    </a:lnR>
                    <a:lnT w="12700" cap="flat" cmpd="sng" algn="ctr">
                      <a:solidFill>
                        <a:srgbClr val="2C3347"/>
                      </a:solidFill>
                      <a:prstDash val="solid"/>
                      <a:round/>
                      <a:headEnd type="none" w="med" len="med"/>
                      <a:tailEnd type="none" w="med" len="med"/>
                    </a:lnT>
                    <a:lnB w="12700" cap="flat" cmpd="sng" algn="ctr">
                      <a:solidFill>
                        <a:srgbClr val="2C3347"/>
                      </a:solidFill>
                      <a:prstDash val="solid"/>
                      <a:round/>
                      <a:headEnd type="none" w="med" len="med"/>
                      <a:tailEnd type="none" w="med" len="med"/>
                    </a:lnB>
                    <a:solidFill>
                      <a:srgbClr val="1A5276"/>
                    </a:solidFill>
                  </a:tcPr>
                </a:tc>
              </a:tr>
              <a:tr h="429768">
                <a:tc>
                  <a:txBody>
                    <a:bodyPr/>
                    <a:lstStyle/>
                    <a:p>
                      <a:pPr indent="0" marL="0">
                        <a:buNone/>
                      </a:pPr>
                      <a:r>
                        <a:rPr lang="en-US" sz="1100" dirty="0">
                          <a:solidFill>
                            <a:srgbClr val="F0F4F8"/>
                          </a:solidFill>
                        </a:rPr>
                        <a:t>Sepal Length</a:t>
                      </a:r>
                      <a:endParaRPr lang="en-US" sz="1100" dirty="0"/>
                    </a:p>
                  </a:txBody>
                  <a:tcPr marL="91440" marR="91440" marT="45720" marB="45720">
                    <a:lnL w="12700" cap="flat" cmpd="sng" algn="ctr">
                      <a:solidFill>
                        <a:srgbClr val="2C3347"/>
                      </a:solidFill>
                      <a:prstDash val="solid"/>
                      <a:round/>
                      <a:headEnd type="none" w="med" len="med"/>
                      <a:tailEnd type="none" w="med" len="med"/>
                    </a:lnL>
                    <a:lnR w="12700" cap="flat" cmpd="sng" algn="ctr">
                      <a:solidFill>
                        <a:srgbClr val="2C3347"/>
                      </a:solidFill>
                      <a:prstDash val="solid"/>
                      <a:round/>
                      <a:headEnd type="none" w="med" len="med"/>
                      <a:tailEnd type="none" w="med" len="med"/>
                    </a:lnR>
                    <a:lnT w="12700" cap="flat" cmpd="sng" algn="ctr">
                      <a:solidFill>
                        <a:srgbClr val="2C3347"/>
                      </a:solidFill>
                      <a:prstDash val="solid"/>
                      <a:round/>
                      <a:headEnd type="none" w="med" len="med"/>
                      <a:tailEnd type="none" w="med" len="med"/>
                    </a:lnT>
                    <a:lnB w="12700" cap="flat" cmpd="sng" algn="ctr">
                      <a:solidFill>
                        <a:srgbClr val="2C3347"/>
                      </a:solidFill>
                      <a:prstDash val="solid"/>
                      <a:round/>
                      <a:headEnd type="none" w="med" len="med"/>
                      <a:tailEnd type="none" w="med" len="med"/>
                    </a:lnB>
                    <a:solidFill>
                      <a:srgbClr val="161B22"/>
                    </a:solidFill>
                  </a:tcPr>
                </a:tc>
                <a:tc>
                  <a:txBody>
                    <a:bodyPr/>
                    <a:lstStyle/>
                    <a:p>
                      <a:pPr indent="0" marL="0">
                        <a:buNone/>
                      </a:pPr>
                      <a:r>
                        <a:rPr lang="en-US" sz="1100" dirty="0">
                          <a:solidFill>
                            <a:srgbClr val="F0F4F8"/>
                          </a:solidFill>
                        </a:rPr>
                        <a:t>Outer petal leaf — length</a:t>
                      </a:r>
                      <a:endParaRPr lang="en-US" sz="1100" dirty="0"/>
                    </a:p>
                  </a:txBody>
                  <a:tcPr marL="91440" marR="91440" marT="45720" marB="45720">
                    <a:lnL w="12700" cap="flat" cmpd="sng" algn="ctr">
                      <a:solidFill>
                        <a:srgbClr val="2C3347"/>
                      </a:solidFill>
                      <a:prstDash val="solid"/>
                      <a:round/>
                      <a:headEnd type="none" w="med" len="med"/>
                      <a:tailEnd type="none" w="med" len="med"/>
                    </a:lnL>
                    <a:lnR w="12700" cap="flat" cmpd="sng" algn="ctr">
                      <a:solidFill>
                        <a:srgbClr val="2C3347"/>
                      </a:solidFill>
                      <a:prstDash val="solid"/>
                      <a:round/>
                      <a:headEnd type="none" w="med" len="med"/>
                      <a:tailEnd type="none" w="med" len="med"/>
                    </a:lnR>
                    <a:lnT w="12700" cap="flat" cmpd="sng" algn="ctr">
                      <a:solidFill>
                        <a:srgbClr val="2C3347"/>
                      </a:solidFill>
                      <a:prstDash val="solid"/>
                      <a:round/>
                      <a:headEnd type="none" w="med" len="med"/>
                      <a:tailEnd type="none" w="med" len="med"/>
                    </a:lnT>
                    <a:lnB w="12700" cap="flat" cmpd="sng" algn="ctr">
                      <a:solidFill>
                        <a:srgbClr val="2C3347"/>
                      </a:solidFill>
                      <a:prstDash val="solid"/>
                      <a:round/>
                      <a:headEnd type="none" w="med" len="med"/>
                      <a:tailEnd type="none" w="med" len="med"/>
                    </a:lnB>
                    <a:solidFill>
                      <a:srgbClr val="161B22"/>
                    </a:solidFill>
                  </a:tcPr>
                </a:tc>
                <a:tc>
                  <a:txBody>
                    <a:bodyPr/>
                    <a:lstStyle/>
                    <a:p>
                      <a:pPr indent="0" marL="0">
                        <a:buNone/>
                      </a:pPr>
                      <a:r>
                        <a:rPr lang="en-US" sz="1100" dirty="0">
                          <a:solidFill>
                            <a:srgbClr val="F0F4F8"/>
                          </a:solidFill>
                        </a:rPr>
                        <a:t>4.3 – 7.9 cm</a:t>
                      </a:r>
                      <a:endParaRPr lang="en-US" sz="1100" dirty="0"/>
                    </a:p>
                  </a:txBody>
                  <a:tcPr marL="91440" marR="91440" marT="45720" marB="45720">
                    <a:lnL w="12700" cap="flat" cmpd="sng" algn="ctr">
                      <a:solidFill>
                        <a:srgbClr val="2C3347"/>
                      </a:solidFill>
                      <a:prstDash val="solid"/>
                      <a:round/>
                      <a:headEnd type="none" w="med" len="med"/>
                      <a:tailEnd type="none" w="med" len="med"/>
                    </a:lnL>
                    <a:lnR w="12700" cap="flat" cmpd="sng" algn="ctr">
                      <a:solidFill>
                        <a:srgbClr val="2C3347"/>
                      </a:solidFill>
                      <a:prstDash val="solid"/>
                      <a:round/>
                      <a:headEnd type="none" w="med" len="med"/>
                      <a:tailEnd type="none" w="med" len="med"/>
                    </a:lnR>
                    <a:lnT w="12700" cap="flat" cmpd="sng" algn="ctr">
                      <a:solidFill>
                        <a:srgbClr val="2C3347"/>
                      </a:solidFill>
                      <a:prstDash val="solid"/>
                      <a:round/>
                      <a:headEnd type="none" w="med" len="med"/>
                      <a:tailEnd type="none" w="med" len="med"/>
                    </a:lnT>
                    <a:lnB w="12700" cap="flat" cmpd="sng" algn="ctr">
                      <a:solidFill>
                        <a:srgbClr val="2C3347"/>
                      </a:solidFill>
                      <a:prstDash val="solid"/>
                      <a:round/>
                      <a:headEnd type="none" w="med" len="med"/>
                      <a:tailEnd type="none" w="med" len="med"/>
                    </a:lnB>
                    <a:solidFill>
                      <a:srgbClr val="161B22"/>
                    </a:solidFill>
                  </a:tcPr>
                </a:tc>
              </a:tr>
              <a:tr h="429768">
                <a:tc>
                  <a:txBody>
                    <a:bodyPr/>
                    <a:lstStyle/>
                    <a:p>
                      <a:pPr indent="0" marL="0">
                        <a:buNone/>
                      </a:pPr>
                      <a:r>
                        <a:rPr lang="en-US" sz="1100" dirty="0">
                          <a:solidFill>
                            <a:srgbClr val="F0F4F8"/>
                          </a:solidFill>
                        </a:rPr>
                        <a:t>Sepal Width</a:t>
                      </a:r>
                      <a:endParaRPr lang="en-US" sz="1100" dirty="0"/>
                    </a:p>
                  </a:txBody>
                  <a:tcPr marL="91440" marR="91440" marT="45720" marB="45720">
                    <a:lnL w="12700" cap="flat" cmpd="sng" algn="ctr">
                      <a:solidFill>
                        <a:srgbClr val="2C3347"/>
                      </a:solidFill>
                      <a:prstDash val="solid"/>
                      <a:round/>
                      <a:headEnd type="none" w="med" len="med"/>
                      <a:tailEnd type="none" w="med" len="med"/>
                    </a:lnL>
                    <a:lnR w="12700" cap="flat" cmpd="sng" algn="ctr">
                      <a:solidFill>
                        <a:srgbClr val="2C3347"/>
                      </a:solidFill>
                      <a:prstDash val="solid"/>
                      <a:round/>
                      <a:headEnd type="none" w="med" len="med"/>
                      <a:tailEnd type="none" w="med" len="med"/>
                    </a:lnR>
                    <a:lnT w="12700" cap="flat" cmpd="sng" algn="ctr">
                      <a:solidFill>
                        <a:srgbClr val="2C3347"/>
                      </a:solidFill>
                      <a:prstDash val="solid"/>
                      <a:round/>
                      <a:headEnd type="none" w="med" len="med"/>
                      <a:tailEnd type="none" w="med" len="med"/>
                    </a:lnT>
                    <a:lnB w="12700" cap="flat" cmpd="sng" algn="ctr">
                      <a:solidFill>
                        <a:srgbClr val="2C3347"/>
                      </a:solidFill>
                      <a:prstDash val="solid"/>
                      <a:round/>
                      <a:headEnd type="none" w="med" len="med"/>
                      <a:tailEnd type="none" w="med" len="med"/>
                    </a:lnB>
                    <a:solidFill>
                      <a:srgbClr val="1C2130"/>
                    </a:solidFill>
                  </a:tcPr>
                </a:tc>
                <a:tc>
                  <a:txBody>
                    <a:bodyPr/>
                    <a:lstStyle/>
                    <a:p>
                      <a:pPr indent="0" marL="0">
                        <a:buNone/>
                      </a:pPr>
                      <a:r>
                        <a:rPr lang="en-US" sz="1100" dirty="0">
                          <a:solidFill>
                            <a:srgbClr val="F0F4F8"/>
                          </a:solidFill>
                        </a:rPr>
                        <a:t>Outer petal leaf — width</a:t>
                      </a:r>
                      <a:endParaRPr lang="en-US" sz="1100" dirty="0"/>
                    </a:p>
                  </a:txBody>
                  <a:tcPr marL="91440" marR="91440" marT="45720" marB="45720">
                    <a:lnL w="12700" cap="flat" cmpd="sng" algn="ctr">
                      <a:solidFill>
                        <a:srgbClr val="2C3347"/>
                      </a:solidFill>
                      <a:prstDash val="solid"/>
                      <a:round/>
                      <a:headEnd type="none" w="med" len="med"/>
                      <a:tailEnd type="none" w="med" len="med"/>
                    </a:lnL>
                    <a:lnR w="12700" cap="flat" cmpd="sng" algn="ctr">
                      <a:solidFill>
                        <a:srgbClr val="2C3347"/>
                      </a:solidFill>
                      <a:prstDash val="solid"/>
                      <a:round/>
                      <a:headEnd type="none" w="med" len="med"/>
                      <a:tailEnd type="none" w="med" len="med"/>
                    </a:lnR>
                    <a:lnT w="12700" cap="flat" cmpd="sng" algn="ctr">
                      <a:solidFill>
                        <a:srgbClr val="2C3347"/>
                      </a:solidFill>
                      <a:prstDash val="solid"/>
                      <a:round/>
                      <a:headEnd type="none" w="med" len="med"/>
                      <a:tailEnd type="none" w="med" len="med"/>
                    </a:lnT>
                    <a:lnB w="12700" cap="flat" cmpd="sng" algn="ctr">
                      <a:solidFill>
                        <a:srgbClr val="2C3347"/>
                      </a:solidFill>
                      <a:prstDash val="solid"/>
                      <a:round/>
                      <a:headEnd type="none" w="med" len="med"/>
                      <a:tailEnd type="none" w="med" len="med"/>
                    </a:lnB>
                    <a:solidFill>
                      <a:srgbClr val="1C2130"/>
                    </a:solidFill>
                  </a:tcPr>
                </a:tc>
                <a:tc>
                  <a:txBody>
                    <a:bodyPr/>
                    <a:lstStyle/>
                    <a:p>
                      <a:pPr indent="0" marL="0">
                        <a:buNone/>
                      </a:pPr>
                      <a:r>
                        <a:rPr lang="en-US" sz="1100" dirty="0">
                          <a:solidFill>
                            <a:srgbClr val="F0F4F8"/>
                          </a:solidFill>
                        </a:rPr>
                        <a:t>2.0 – 4.4 cm</a:t>
                      </a:r>
                      <a:endParaRPr lang="en-US" sz="1100" dirty="0"/>
                    </a:p>
                  </a:txBody>
                  <a:tcPr marL="91440" marR="91440" marT="45720" marB="45720">
                    <a:lnL w="12700" cap="flat" cmpd="sng" algn="ctr">
                      <a:solidFill>
                        <a:srgbClr val="2C3347"/>
                      </a:solidFill>
                      <a:prstDash val="solid"/>
                      <a:round/>
                      <a:headEnd type="none" w="med" len="med"/>
                      <a:tailEnd type="none" w="med" len="med"/>
                    </a:lnL>
                    <a:lnR w="12700" cap="flat" cmpd="sng" algn="ctr">
                      <a:solidFill>
                        <a:srgbClr val="2C3347"/>
                      </a:solidFill>
                      <a:prstDash val="solid"/>
                      <a:round/>
                      <a:headEnd type="none" w="med" len="med"/>
                      <a:tailEnd type="none" w="med" len="med"/>
                    </a:lnR>
                    <a:lnT w="12700" cap="flat" cmpd="sng" algn="ctr">
                      <a:solidFill>
                        <a:srgbClr val="2C3347"/>
                      </a:solidFill>
                      <a:prstDash val="solid"/>
                      <a:round/>
                      <a:headEnd type="none" w="med" len="med"/>
                      <a:tailEnd type="none" w="med" len="med"/>
                    </a:lnT>
                    <a:lnB w="12700" cap="flat" cmpd="sng" algn="ctr">
                      <a:solidFill>
                        <a:srgbClr val="2C3347"/>
                      </a:solidFill>
                      <a:prstDash val="solid"/>
                      <a:round/>
                      <a:headEnd type="none" w="med" len="med"/>
                      <a:tailEnd type="none" w="med" len="med"/>
                    </a:lnB>
                    <a:solidFill>
                      <a:srgbClr val="1C2130"/>
                    </a:solidFill>
                  </a:tcPr>
                </a:tc>
              </a:tr>
              <a:tr h="429768">
                <a:tc>
                  <a:txBody>
                    <a:bodyPr/>
                    <a:lstStyle/>
                    <a:p>
                      <a:pPr indent="0" marL="0">
                        <a:buNone/>
                      </a:pPr>
                      <a:r>
                        <a:rPr lang="en-US" sz="1100" dirty="0">
                          <a:solidFill>
                            <a:srgbClr val="F0F4F8"/>
                          </a:solidFill>
                        </a:rPr>
                        <a:t>Petal Length</a:t>
                      </a:r>
                      <a:endParaRPr lang="en-US" sz="1100" dirty="0"/>
                    </a:p>
                  </a:txBody>
                  <a:tcPr marL="91440" marR="91440" marT="45720" marB="45720">
                    <a:lnL w="12700" cap="flat" cmpd="sng" algn="ctr">
                      <a:solidFill>
                        <a:srgbClr val="2C3347"/>
                      </a:solidFill>
                      <a:prstDash val="solid"/>
                      <a:round/>
                      <a:headEnd type="none" w="med" len="med"/>
                      <a:tailEnd type="none" w="med" len="med"/>
                    </a:lnL>
                    <a:lnR w="12700" cap="flat" cmpd="sng" algn="ctr">
                      <a:solidFill>
                        <a:srgbClr val="2C3347"/>
                      </a:solidFill>
                      <a:prstDash val="solid"/>
                      <a:round/>
                      <a:headEnd type="none" w="med" len="med"/>
                      <a:tailEnd type="none" w="med" len="med"/>
                    </a:lnR>
                    <a:lnT w="12700" cap="flat" cmpd="sng" algn="ctr">
                      <a:solidFill>
                        <a:srgbClr val="2C3347"/>
                      </a:solidFill>
                      <a:prstDash val="solid"/>
                      <a:round/>
                      <a:headEnd type="none" w="med" len="med"/>
                      <a:tailEnd type="none" w="med" len="med"/>
                    </a:lnT>
                    <a:lnB w="12700" cap="flat" cmpd="sng" algn="ctr">
                      <a:solidFill>
                        <a:srgbClr val="2C3347"/>
                      </a:solidFill>
                      <a:prstDash val="solid"/>
                      <a:round/>
                      <a:headEnd type="none" w="med" len="med"/>
                      <a:tailEnd type="none" w="med" len="med"/>
                    </a:lnB>
                    <a:solidFill>
                      <a:srgbClr val="161B22"/>
                    </a:solidFill>
                  </a:tcPr>
                </a:tc>
                <a:tc>
                  <a:txBody>
                    <a:bodyPr/>
                    <a:lstStyle/>
                    <a:p>
                      <a:pPr indent="0" marL="0">
                        <a:buNone/>
                      </a:pPr>
                      <a:r>
                        <a:rPr lang="en-US" sz="1100" dirty="0">
                          <a:solidFill>
                            <a:srgbClr val="F0F4F8"/>
                          </a:solidFill>
                        </a:rPr>
                        <a:t>Inner petal — length (key!)</a:t>
                      </a:r>
                      <a:endParaRPr lang="en-US" sz="1100" dirty="0"/>
                    </a:p>
                  </a:txBody>
                  <a:tcPr marL="91440" marR="91440" marT="45720" marB="45720">
                    <a:lnL w="12700" cap="flat" cmpd="sng" algn="ctr">
                      <a:solidFill>
                        <a:srgbClr val="2C3347"/>
                      </a:solidFill>
                      <a:prstDash val="solid"/>
                      <a:round/>
                      <a:headEnd type="none" w="med" len="med"/>
                      <a:tailEnd type="none" w="med" len="med"/>
                    </a:lnL>
                    <a:lnR w="12700" cap="flat" cmpd="sng" algn="ctr">
                      <a:solidFill>
                        <a:srgbClr val="2C3347"/>
                      </a:solidFill>
                      <a:prstDash val="solid"/>
                      <a:round/>
                      <a:headEnd type="none" w="med" len="med"/>
                      <a:tailEnd type="none" w="med" len="med"/>
                    </a:lnR>
                    <a:lnT w="12700" cap="flat" cmpd="sng" algn="ctr">
                      <a:solidFill>
                        <a:srgbClr val="2C3347"/>
                      </a:solidFill>
                      <a:prstDash val="solid"/>
                      <a:round/>
                      <a:headEnd type="none" w="med" len="med"/>
                      <a:tailEnd type="none" w="med" len="med"/>
                    </a:lnT>
                    <a:lnB w="12700" cap="flat" cmpd="sng" algn="ctr">
                      <a:solidFill>
                        <a:srgbClr val="2C3347"/>
                      </a:solidFill>
                      <a:prstDash val="solid"/>
                      <a:round/>
                      <a:headEnd type="none" w="med" len="med"/>
                      <a:tailEnd type="none" w="med" len="med"/>
                    </a:lnB>
                    <a:solidFill>
                      <a:srgbClr val="161B22"/>
                    </a:solidFill>
                  </a:tcPr>
                </a:tc>
                <a:tc>
                  <a:txBody>
                    <a:bodyPr/>
                    <a:lstStyle/>
                    <a:p>
                      <a:pPr indent="0" marL="0">
                        <a:buNone/>
                      </a:pPr>
                      <a:r>
                        <a:rPr lang="en-US" sz="1100" dirty="0">
                          <a:solidFill>
                            <a:srgbClr val="F0F4F8"/>
                          </a:solidFill>
                        </a:rPr>
                        <a:t>1.0 – 6.9 cm</a:t>
                      </a:r>
                      <a:endParaRPr lang="en-US" sz="1100" dirty="0"/>
                    </a:p>
                  </a:txBody>
                  <a:tcPr marL="91440" marR="91440" marT="45720" marB="45720">
                    <a:lnL w="12700" cap="flat" cmpd="sng" algn="ctr">
                      <a:solidFill>
                        <a:srgbClr val="2C3347"/>
                      </a:solidFill>
                      <a:prstDash val="solid"/>
                      <a:round/>
                      <a:headEnd type="none" w="med" len="med"/>
                      <a:tailEnd type="none" w="med" len="med"/>
                    </a:lnL>
                    <a:lnR w="12700" cap="flat" cmpd="sng" algn="ctr">
                      <a:solidFill>
                        <a:srgbClr val="2C3347"/>
                      </a:solidFill>
                      <a:prstDash val="solid"/>
                      <a:round/>
                      <a:headEnd type="none" w="med" len="med"/>
                      <a:tailEnd type="none" w="med" len="med"/>
                    </a:lnR>
                    <a:lnT w="12700" cap="flat" cmpd="sng" algn="ctr">
                      <a:solidFill>
                        <a:srgbClr val="2C3347"/>
                      </a:solidFill>
                      <a:prstDash val="solid"/>
                      <a:round/>
                      <a:headEnd type="none" w="med" len="med"/>
                      <a:tailEnd type="none" w="med" len="med"/>
                    </a:lnT>
                    <a:lnB w="12700" cap="flat" cmpd="sng" algn="ctr">
                      <a:solidFill>
                        <a:srgbClr val="2C3347"/>
                      </a:solidFill>
                      <a:prstDash val="solid"/>
                      <a:round/>
                      <a:headEnd type="none" w="med" len="med"/>
                      <a:tailEnd type="none" w="med" len="med"/>
                    </a:lnB>
                    <a:solidFill>
                      <a:srgbClr val="161B22"/>
                    </a:solidFill>
                  </a:tcPr>
                </a:tc>
              </a:tr>
              <a:tr h="429768">
                <a:tc>
                  <a:txBody>
                    <a:bodyPr/>
                    <a:lstStyle/>
                    <a:p>
                      <a:pPr indent="0" marL="0">
                        <a:buNone/>
                      </a:pPr>
                      <a:r>
                        <a:rPr lang="en-US" sz="1100" dirty="0">
                          <a:solidFill>
                            <a:srgbClr val="F0F4F8"/>
                          </a:solidFill>
                        </a:rPr>
                        <a:t>Petal Width</a:t>
                      </a:r>
                      <a:endParaRPr lang="en-US" sz="1100" dirty="0"/>
                    </a:p>
                  </a:txBody>
                  <a:tcPr marL="91440" marR="91440" marT="45720" marB="45720">
                    <a:lnL w="12700" cap="flat" cmpd="sng" algn="ctr">
                      <a:solidFill>
                        <a:srgbClr val="2C3347"/>
                      </a:solidFill>
                      <a:prstDash val="solid"/>
                      <a:round/>
                      <a:headEnd type="none" w="med" len="med"/>
                      <a:tailEnd type="none" w="med" len="med"/>
                    </a:lnL>
                    <a:lnR w="12700" cap="flat" cmpd="sng" algn="ctr">
                      <a:solidFill>
                        <a:srgbClr val="2C3347"/>
                      </a:solidFill>
                      <a:prstDash val="solid"/>
                      <a:round/>
                      <a:headEnd type="none" w="med" len="med"/>
                      <a:tailEnd type="none" w="med" len="med"/>
                    </a:lnR>
                    <a:lnT w="12700" cap="flat" cmpd="sng" algn="ctr">
                      <a:solidFill>
                        <a:srgbClr val="2C3347"/>
                      </a:solidFill>
                      <a:prstDash val="solid"/>
                      <a:round/>
                      <a:headEnd type="none" w="med" len="med"/>
                      <a:tailEnd type="none" w="med" len="med"/>
                    </a:lnT>
                    <a:lnB w="12700" cap="flat" cmpd="sng" algn="ctr">
                      <a:solidFill>
                        <a:srgbClr val="2C3347"/>
                      </a:solidFill>
                      <a:prstDash val="solid"/>
                      <a:round/>
                      <a:headEnd type="none" w="med" len="med"/>
                      <a:tailEnd type="none" w="med" len="med"/>
                    </a:lnB>
                    <a:solidFill>
                      <a:srgbClr val="1C2130"/>
                    </a:solidFill>
                  </a:tcPr>
                </a:tc>
                <a:tc>
                  <a:txBody>
                    <a:bodyPr/>
                    <a:lstStyle/>
                    <a:p>
                      <a:pPr indent="0" marL="0">
                        <a:buNone/>
                      </a:pPr>
                      <a:r>
                        <a:rPr lang="en-US" sz="1100" dirty="0">
                          <a:solidFill>
                            <a:srgbClr val="F0F4F8"/>
                          </a:solidFill>
                        </a:rPr>
                        <a:t>Inner petal — width (key!)</a:t>
                      </a:r>
                      <a:endParaRPr lang="en-US" sz="1100" dirty="0"/>
                    </a:p>
                  </a:txBody>
                  <a:tcPr marL="91440" marR="91440" marT="45720" marB="45720">
                    <a:lnL w="12700" cap="flat" cmpd="sng" algn="ctr">
                      <a:solidFill>
                        <a:srgbClr val="2C3347"/>
                      </a:solidFill>
                      <a:prstDash val="solid"/>
                      <a:round/>
                      <a:headEnd type="none" w="med" len="med"/>
                      <a:tailEnd type="none" w="med" len="med"/>
                    </a:lnL>
                    <a:lnR w="12700" cap="flat" cmpd="sng" algn="ctr">
                      <a:solidFill>
                        <a:srgbClr val="2C3347"/>
                      </a:solidFill>
                      <a:prstDash val="solid"/>
                      <a:round/>
                      <a:headEnd type="none" w="med" len="med"/>
                      <a:tailEnd type="none" w="med" len="med"/>
                    </a:lnR>
                    <a:lnT w="12700" cap="flat" cmpd="sng" algn="ctr">
                      <a:solidFill>
                        <a:srgbClr val="2C3347"/>
                      </a:solidFill>
                      <a:prstDash val="solid"/>
                      <a:round/>
                      <a:headEnd type="none" w="med" len="med"/>
                      <a:tailEnd type="none" w="med" len="med"/>
                    </a:lnT>
                    <a:lnB w="12700" cap="flat" cmpd="sng" algn="ctr">
                      <a:solidFill>
                        <a:srgbClr val="2C3347"/>
                      </a:solidFill>
                      <a:prstDash val="solid"/>
                      <a:round/>
                      <a:headEnd type="none" w="med" len="med"/>
                      <a:tailEnd type="none" w="med" len="med"/>
                    </a:lnB>
                    <a:solidFill>
                      <a:srgbClr val="1C2130"/>
                    </a:solidFill>
                  </a:tcPr>
                </a:tc>
                <a:tc>
                  <a:txBody>
                    <a:bodyPr/>
                    <a:lstStyle/>
                    <a:p>
                      <a:pPr indent="0" marL="0">
                        <a:buNone/>
                      </a:pPr>
                      <a:r>
                        <a:rPr lang="en-US" sz="1100" dirty="0">
                          <a:solidFill>
                            <a:srgbClr val="F0F4F8"/>
                          </a:solidFill>
                        </a:rPr>
                        <a:t>0.1 – 2.5 cm</a:t>
                      </a:r>
                      <a:endParaRPr lang="en-US" sz="1100" dirty="0"/>
                    </a:p>
                  </a:txBody>
                  <a:tcPr marL="91440" marR="91440" marT="45720" marB="45720">
                    <a:lnL w="12700" cap="flat" cmpd="sng" algn="ctr">
                      <a:solidFill>
                        <a:srgbClr val="2C3347"/>
                      </a:solidFill>
                      <a:prstDash val="solid"/>
                      <a:round/>
                      <a:headEnd type="none" w="med" len="med"/>
                      <a:tailEnd type="none" w="med" len="med"/>
                    </a:lnL>
                    <a:lnR w="12700" cap="flat" cmpd="sng" algn="ctr">
                      <a:solidFill>
                        <a:srgbClr val="2C3347"/>
                      </a:solidFill>
                      <a:prstDash val="solid"/>
                      <a:round/>
                      <a:headEnd type="none" w="med" len="med"/>
                      <a:tailEnd type="none" w="med" len="med"/>
                    </a:lnR>
                    <a:lnT w="12700" cap="flat" cmpd="sng" algn="ctr">
                      <a:solidFill>
                        <a:srgbClr val="2C3347"/>
                      </a:solidFill>
                      <a:prstDash val="solid"/>
                      <a:round/>
                      <a:headEnd type="none" w="med" len="med"/>
                      <a:tailEnd type="none" w="med" len="med"/>
                    </a:lnT>
                    <a:lnB w="12700" cap="flat" cmpd="sng" algn="ctr">
                      <a:solidFill>
                        <a:srgbClr val="2C3347"/>
                      </a:solidFill>
                      <a:prstDash val="solid"/>
                      <a:round/>
                      <a:headEnd type="none" w="med" len="med"/>
                      <a:tailEnd type="none" w="med" len="med"/>
                    </a:lnB>
                    <a:solidFill>
                      <a:srgbClr val="1C2130"/>
                    </a:solidFill>
                  </a:tcPr>
                </a:tc>
              </a:tr>
            </a:tbl>
          </a:graphicData>
        </a:graphic>
      </p:graphicFrame>
      <p:graphicFrame>
        <p:nvGraphicFramePr>
          <p:cNvPr id="19" name="Chart 0" descr=""/>
          <p:cNvGraphicFramePr/>
          <p:nvPr/>
        </p:nvGraphicFramePr>
        <p:xfrm>
          <a:off x="5394960" y="2423160"/>
          <a:ext cx="3474720" cy="2514600"/>
        </p:xfrm>
        <a:graphic xmlns:a="http://schemas.openxmlformats.org/drawingml/2006/main">
          <a:graphicData uri="http://schemas.openxmlformats.org/drawingml/2006/chart">
            <c:chart xmlns:c="http://schemas.openxmlformats.org/drawingml/2006/chart" r:id="rId1"/>
          </a:graphicData>
        </a:graphic>
      </p:graphicFrame>
      <p:sp>
        <p:nvSpPr>
          <p:cNvPr id="20" name="Text 16"/>
          <p:cNvSpPr/>
          <p:nvPr/>
        </p:nvSpPr>
        <p:spPr>
          <a:xfrm>
            <a:off x="5394960" y="2423160"/>
            <a:ext cx="3474720" cy="292608"/>
          </a:xfrm>
          <a:prstGeom prst="rect">
            <a:avLst/>
          </a:prstGeom>
          <a:noFill/>
          <a:ln/>
        </p:spPr>
        <p:txBody>
          <a:bodyPr wrap="square" rtlCol="0" anchor="ctr"/>
          <a:lstStyle/>
          <a:p>
            <a:pPr algn="ctr" indent="0" marL="0">
              <a:buNone/>
            </a:pPr>
            <a:r>
              <a:rPr lang="en-US" sz="1000" b="1" dirty="0">
                <a:solidFill>
                  <a:srgbClr val="F0F4F8"/>
                </a:solidFill>
                <a:latin typeface="Calibri" pitchFamily="34" charset="0"/>
                <a:ea typeface="Calibri" pitchFamily="34" charset="-122"/>
                <a:cs typeface="Calibri" pitchFamily="34" charset="-120"/>
              </a:rPr>
              <a:t>Balanced Dataset — Equal Distribution</a:t>
            </a:r>
            <a:endParaRPr lang="en-US" sz="1000" dirty="0"/>
          </a:p>
        </p:txBody>
      </p:sp>
      <p:sp>
        <p:nvSpPr>
          <p:cNvPr id="21" name="Shape 17"/>
          <p:cNvSpPr/>
          <p:nvPr/>
        </p:nvSpPr>
        <p:spPr>
          <a:xfrm>
            <a:off x="274320" y="4663440"/>
            <a:ext cx="8595360" cy="502920"/>
          </a:xfrm>
          <a:prstGeom prst="roundRect">
            <a:avLst>
              <a:gd name="adj" fmla="val 14545"/>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22" name="Text 18"/>
          <p:cNvSpPr/>
          <p:nvPr/>
        </p:nvSpPr>
        <p:spPr>
          <a:xfrm>
            <a:off x="384048" y="4700016"/>
            <a:ext cx="8375904" cy="429768"/>
          </a:xfrm>
          <a:prstGeom prst="rect">
            <a:avLst/>
          </a:prstGeom>
          <a:noFill/>
          <a:ln/>
        </p:spPr>
        <p:txBody>
          <a:bodyPr wrap="square" rtlCol="0" anchor="ctr"/>
          <a:lstStyle/>
          <a:p>
            <a:pPr indent="0" marL="0">
              <a:buNone/>
            </a:pPr>
            <a:r>
              <a:rPr lang="en-US" sz="1000" b="1" dirty="0">
                <a:solidFill>
                  <a:srgbClr val="D4AC0D"/>
                </a:solidFill>
                <a:latin typeface="Calibri" pitchFamily="34" charset="0"/>
                <a:ea typeface="Calibri" pitchFamily="34" charset="-122"/>
                <a:cs typeface="Calibri" pitchFamily="34" charset="-120"/>
              </a:rPr>
              <a:t>▶  Business Takeaway:  </a:t>
            </a:r>
            <a:pPr indent="0" marL="0">
              <a:buNone/>
            </a:pPr>
            <a:r>
              <a:rPr lang="en-US" sz="1000" i="1" dirty="0">
                <a:solidFill>
                  <a:srgbClr val="F0F4F8"/>
                </a:solidFill>
                <a:latin typeface="Calibri" pitchFamily="34" charset="0"/>
                <a:ea typeface="Calibri" pitchFamily="34" charset="-122"/>
                <a:cs typeface="Calibri" pitchFamily="34" charset="-120"/>
              </a:rPr>
              <a:t>This suggests that the dataset is statistically balanced, eliminating class-bias risk and ensuring the model is trained without favouring any single species.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1A5276"/>
          </a:solidFill>
          <a:ln w="12700">
            <a:solidFill>
              <a:srgbClr val="1A5276"/>
            </a:solidFill>
            <a:prstDash val="solid"/>
          </a:ln>
        </p:spPr>
      </p:sp>
      <p:sp>
        <p:nvSpPr>
          <p:cNvPr id="3" name="Text 1"/>
          <p:cNvSpPr/>
          <p:nvPr/>
        </p:nvSpPr>
        <p:spPr>
          <a:xfrm>
            <a:off x="365760" y="36576"/>
            <a:ext cx="8412480" cy="274320"/>
          </a:xfrm>
          <a:prstGeom prst="rect">
            <a:avLst/>
          </a:prstGeom>
          <a:noFill/>
          <a:ln/>
        </p:spPr>
        <p:txBody>
          <a:bodyPr wrap="square" rtlCol="0" anchor="ctr"/>
          <a:lstStyle/>
          <a:p>
            <a:pPr indent="0" marL="0">
              <a:buNone/>
            </a:pPr>
            <a:r>
              <a:rPr lang="en-US" sz="900" b="1" spc="300" kern="0" dirty="0">
                <a:solidFill>
                  <a:srgbClr val="F0F4F8"/>
                </a:solidFill>
              </a:rPr>
              <a:t>DATA CLEANING  |  SLIDE 4 OF 12</a:t>
            </a:r>
            <a:endParaRPr lang="en-US" sz="900" dirty="0"/>
          </a:p>
        </p:txBody>
      </p:sp>
      <p:sp>
        <p:nvSpPr>
          <p:cNvPr id="4" name="Text 2"/>
          <p:cNvSpPr/>
          <p:nvPr/>
        </p:nvSpPr>
        <p:spPr>
          <a:xfrm>
            <a:off x="411480" y="502920"/>
            <a:ext cx="8321040" cy="594360"/>
          </a:xfrm>
          <a:prstGeom prst="rect">
            <a:avLst/>
          </a:prstGeom>
          <a:noFill/>
          <a:ln/>
        </p:spPr>
        <p:txBody>
          <a:bodyPr wrap="square" rtlCol="0" anchor="t"/>
          <a:lstStyle/>
          <a:p>
            <a:pPr indent="0" marL="0">
              <a:buNone/>
            </a:pPr>
            <a:r>
              <a:rPr lang="en-US" sz="2600" b="1" dirty="0">
                <a:solidFill>
                  <a:srgbClr val="F0F4F8"/>
                </a:solidFill>
                <a:latin typeface="Cambria" pitchFamily="34" charset="0"/>
                <a:ea typeface="Cambria" pitchFamily="34" charset="-122"/>
                <a:cs typeface="Cambria" pitchFamily="34" charset="-120"/>
              </a:rPr>
              <a:t>Data Quality Assessment: Before &amp; After</a:t>
            </a:r>
            <a:endParaRPr lang="en-US" sz="2600" dirty="0"/>
          </a:p>
        </p:txBody>
      </p:sp>
      <p:sp>
        <p:nvSpPr>
          <p:cNvPr id="5" name="Shape 3"/>
          <p:cNvSpPr/>
          <p:nvPr/>
        </p:nvSpPr>
        <p:spPr>
          <a:xfrm>
            <a:off x="274320" y="1207008"/>
            <a:ext cx="3977640" cy="3337560"/>
          </a:xfrm>
          <a:prstGeom prst="roundRect">
            <a:avLst>
              <a:gd name="adj" fmla="val 2192"/>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6" name="Shape 4"/>
          <p:cNvSpPr/>
          <p:nvPr/>
        </p:nvSpPr>
        <p:spPr>
          <a:xfrm>
            <a:off x="384048" y="1316736"/>
            <a:ext cx="1097280" cy="274320"/>
          </a:xfrm>
          <a:prstGeom prst="roundRect">
            <a:avLst>
              <a:gd name="adj" fmla="val 16667"/>
            </a:avLst>
          </a:prstGeom>
          <a:solidFill>
            <a:srgbClr val="E74C3C"/>
          </a:solidFill>
          <a:ln w="12700">
            <a:solidFill>
              <a:srgbClr val="E74C3C"/>
            </a:solidFill>
            <a:prstDash val="solid"/>
          </a:ln>
        </p:spPr>
      </p:sp>
      <p:sp>
        <p:nvSpPr>
          <p:cNvPr id="7" name="Text 5"/>
          <p:cNvSpPr/>
          <p:nvPr/>
        </p:nvSpPr>
        <p:spPr>
          <a:xfrm>
            <a:off x="384048" y="1316736"/>
            <a:ext cx="1097280" cy="274320"/>
          </a:xfrm>
          <a:prstGeom prst="rect">
            <a:avLst/>
          </a:prstGeom>
          <a:noFill/>
          <a:ln/>
        </p:spPr>
        <p:txBody>
          <a:bodyPr wrap="square" rtlCol="0" anchor="ctr"/>
          <a:lstStyle/>
          <a:p>
            <a:pPr algn="ctr" indent="0" marL="0">
              <a:buNone/>
            </a:pPr>
            <a:r>
              <a:rPr lang="en-US" sz="900" b="1" dirty="0">
                <a:solidFill>
                  <a:srgbClr val="F0F4F8"/>
                </a:solidFill>
              </a:rPr>
              <a:t>BEFORE</a:t>
            </a:r>
            <a:endParaRPr lang="en-US" sz="900" dirty="0"/>
          </a:p>
        </p:txBody>
      </p:sp>
      <p:sp>
        <p:nvSpPr>
          <p:cNvPr id="8" name="Text 6"/>
          <p:cNvSpPr/>
          <p:nvPr/>
        </p:nvSpPr>
        <p:spPr>
          <a:xfrm>
            <a:off x="411480" y="1691640"/>
            <a:ext cx="3657600" cy="320040"/>
          </a:xfrm>
          <a:prstGeom prst="rect">
            <a:avLst/>
          </a:prstGeom>
          <a:noFill/>
          <a:ln/>
        </p:spPr>
        <p:txBody>
          <a:bodyPr wrap="square" rtlCol="0" anchor="ctr"/>
          <a:lstStyle/>
          <a:p>
            <a:pPr indent="0" marL="0">
              <a:buNone/>
            </a:pPr>
            <a:r>
              <a:rPr lang="en-US" sz="1400" b="1" dirty="0">
                <a:solidFill>
                  <a:srgbClr val="E74C3C"/>
                </a:solidFill>
                <a:latin typeface="Cambria" pitchFamily="34" charset="0"/>
                <a:ea typeface="Cambria" pitchFamily="34" charset="-122"/>
                <a:cs typeface="Cambria" pitchFamily="34" charset="-120"/>
              </a:rPr>
              <a:t>Raw Dataset Issues</a:t>
            </a:r>
            <a:endParaRPr lang="en-US" sz="1400" dirty="0"/>
          </a:p>
        </p:txBody>
      </p:sp>
      <p:sp>
        <p:nvSpPr>
          <p:cNvPr id="9" name="Text 7"/>
          <p:cNvSpPr/>
          <p:nvPr/>
        </p:nvSpPr>
        <p:spPr>
          <a:xfrm>
            <a:off x="411480" y="2084832"/>
            <a:ext cx="3703320" cy="2331720"/>
          </a:xfrm>
          <a:prstGeom prst="rect">
            <a:avLst/>
          </a:prstGeom>
          <a:noFill/>
          <a:ln/>
        </p:spPr>
        <p:txBody>
          <a:bodyPr wrap="square" rtlCol="0" anchor="ctr"/>
          <a:lstStyle/>
          <a:p>
            <a:pPr marL="342900" indent="-342900">
              <a:spcAft>
                <a:spcPts val="500"/>
              </a:spcAft>
              <a:buSzPct val="100000"/>
              <a:buChar char="•"/>
            </a:pPr>
            <a:r>
              <a:rPr lang="en-US" sz="1100" dirty="0">
                <a:solidFill>
                  <a:srgbClr val="F0F4F8"/>
                </a:solidFill>
                <a:latin typeface="Calibri" pitchFamily="34" charset="0"/>
                <a:ea typeface="Calibri" pitchFamily="34" charset="-122"/>
                <a:cs typeface="Calibri" pitchFamily="34" charset="-120"/>
              </a:rPr>
              <a:t>150 raw records imported from field collection sheets</a:t>
            </a:r>
            <a:endParaRPr lang="en-US" sz="1100" dirty="0"/>
          </a:p>
          <a:p>
            <a:pPr marL="342900" indent="-342900">
              <a:spcAft>
                <a:spcPts val="500"/>
              </a:spcAft>
              <a:buSzPct val="100000"/>
              <a:buChar char="•"/>
            </a:pPr>
            <a:r>
              <a:rPr lang="en-US" sz="1100" dirty="0">
                <a:solidFill>
                  <a:srgbClr val="F0F4F8"/>
                </a:solidFill>
                <a:latin typeface="Calibri" pitchFamily="34" charset="0"/>
                <a:ea typeface="Calibri" pitchFamily="34" charset="-122"/>
                <a:cs typeface="Calibri" pitchFamily="34" charset="-120"/>
              </a:rPr>
              <a:t>1 statistical outlier detected (Sepal Width: 4.4 cm — Row 16)</a:t>
            </a:r>
            <a:endParaRPr lang="en-US" sz="1100" dirty="0"/>
          </a:p>
          <a:p>
            <a:pPr marL="342900" indent="-342900">
              <a:spcAft>
                <a:spcPts val="500"/>
              </a:spcAft>
              <a:buSzPct val="100000"/>
              <a:buChar char="•"/>
            </a:pPr>
            <a:r>
              <a:rPr lang="en-US" sz="1100" dirty="0">
                <a:solidFill>
                  <a:srgbClr val="F0F4F8"/>
                </a:solidFill>
                <a:latin typeface="Calibri" pitchFamily="34" charset="0"/>
                <a:ea typeface="Calibri" pitchFamily="34" charset="-122"/>
                <a:cs typeface="Calibri" pitchFamily="34" charset="-120"/>
              </a:rPr>
              <a:t>No duplicate records identified</a:t>
            </a:r>
            <a:endParaRPr lang="en-US" sz="1100" dirty="0"/>
          </a:p>
          <a:p>
            <a:pPr marL="342900" indent="-342900">
              <a:spcAft>
                <a:spcPts val="500"/>
              </a:spcAft>
              <a:buSzPct val="100000"/>
              <a:buChar char="•"/>
            </a:pPr>
            <a:r>
              <a:rPr lang="en-US" sz="1100" dirty="0">
                <a:solidFill>
                  <a:srgbClr val="F0F4F8"/>
                </a:solidFill>
                <a:latin typeface="Calibri" pitchFamily="34" charset="0"/>
                <a:ea typeface="Calibri" pitchFamily="34" charset="-122"/>
                <a:cs typeface="Calibri" pitchFamily="34" charset="-120"/>
              </a:rPr>
              <a:t>No explicit missing values — all 750 cells populated</a:t>
            </a:r>
            <a:endParaRPr lang="en-US" sz="1100" dirty="0"/>
          </a:p>
          <a:p>
            <a:pPr marL="342900" indent="-342900">
              <a:spcAft>
                <a:spcPts val="500"/>
              </a:spcAft>
              <a:buSzPct val="100000"/>
              <a:buChar char="•"/>
            </a:pPr>
            <a:r>
              <a:rPr lang="en-US" sz="1100" dirty="0">
                <a:solidFill>
                  <a:srgbClr val="F0F4F8"/>
                </a:solidFill>
                <a:latin typeface="Calibri" pitchFamily="34" charset="0"/>
                <a:ea typeface="Calibri" pitchFamily="34" charset="-122"/>
                <a:cs typeface="Calibri" pitchFamily="34" charset="-120"/>
              </a:rPr>
              <a:t>Species labels stored as full strings (Iris-setosa, etc.)</a:t>
            </a:r>
            <a:endParaRPr lang="en-US" sz="1100" dirty="0"/>
          </a:p>
          <a:p>
            <a:pPr marL="342900" indent="-342900">
              <a:spcAft>
                <a:spcPts val="500"/>
              </a:spcAft>
              <a:buSzPct val="100000"/>
              <a:buChar char="•"/>
            </a:pPr>
            <a:r>
              <a:rPr lang="en-US" sz="1100" dirty="0">
                <a:solidFill>
                  <a:srgbClr val="F0F4F8"/>
                </a:solidFill>
                <a:latin typeface="Calibri" pitchFamily="34" charset="0"/>
                <a:ea typeface="Calibri" pitchFamily="34" charset="-122"/>
                <a:cs typeface="Calibri" pitchFamily="34" charset="-120"/>
              </a:rPr>
              <a:t>Id column present but non-informative for analysis</a:t>
            </a:r>
            <a:endParaRPr lang="en-US" sz="1100" dirty="0"/>
          </a:p>
        </p:txBody>
      </p:sp>
      <p:sp>
        <p:nvSpPr>
          <p:cNvPr id="10" name="Shape 8"/>
          <p:cNvSpPr/>
          <p:nvPr/>
        </p:nvSpPr>
        <p:spPr>
          <a:xfrm>
            <a:off x="4480560" y="1207008"/>
            <a:ext cx="4389120" cy="3337560"/>
          </a:xfrm>
          <a:prstGeom prst="roundRect">
            <a:avLst>
              <a:gd name="adj" fmla="val 2192"/>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11" name="Shape 9"/>
          <p:cNvSpPr/>
          <p:nvPr/>
        </p:nvSpPr>
        <p:spPr>
          <a:xfrm>
            <a:off x="4590288" y="1316736"/>
            <a:ext cx="1097280" cy="274320"/>
          </a:xfrm>
          <a:prstGeom prst="roundRect">
            <a:avLst>
              <a:gd name="adj" fmla="val 16667"/>
            </a:avLst>
          </a:prstGeom>
          <a:solidFill>
            <a:srgbClr val="27AE60"/>
          </a:solidFill>
          <a:ln w="12700">
            <a:solidFill>
              <a:srgbClr val="27AE60"/>
            </a:solidFill>
            <a:prstDash val="solid"/>
          </a:ln>
        </p:spPr>
      </p:sp>
      <p:sp>
        <p:nvSpPr>
          <p:cNvPr id="12" name="Text 10"/>
          <p:cNvSpPr/>
          <p:nvPr/>
        </p:nvSpPr>
        <p:spPr>
          <a:xfrm>
            <a:off x="4590288" y="1316736"/>
            <a:ext cx="1097280" cy="274320"/>
          </a:xfrm>
          <a:prstGeom prst="rect">
            <a:avLst/>
          </a:prstGeom>
          <a:noFill/>
          <a:ln/>
        </p:spPr>
        <p:txBody>
          <a:bodyPr wrap="square" rtlCol="0" anchor="ctr"/>
          <a:lstStyle/>
          <a:p>
            <a:pPr algn="ctr" indent="0" marL="0">
              <a:buNone/>
            </a:pPr>
            <a:r>
              <a:rPr lang="en-US" sz="900" b="1" dirty="0">
                <a:solidFill>
                  <a:srgbClr val="F0F4F8"/>
                </a:solidFill>
              </a:rPr>
              <a:t>AFTER</a:t>
            </a:r>
            <a:endParaRPr lang="en-US" sz="900" dirty="0"/>
          </a:p>
        </p:txBody>
      </p:sp>
      <p:sp>
        <p:nvSpPr>
          <p:cNvPr id="13" name="Text 11"/>
          <p:cNvSpPr/>
          <p:nvPr/>
        </p:nvSpPr>
        <p:spPr>
          <a:xfrm>
            <a:off x="4617720" y="1691640"/>
            <a:ext cx="4023360" cy="320040"/>
          </a:xfrm>
          <a:prstGeom prst="rect">
            <a:avLst/>
          </a:prstGeom>
          <a:noFill/>
          <a:ln/>
        </p:spPr>
        <p:txBody>
          <a:bodyPr wrap="square" rtlCol="0" anchor="ctr"/>
          <a:lstStyle/>
          <a:p>
            <a:pPr indent="0" marL="0">
              <a:buNone/>
            </a:pPr>
            <a:r>
              <a:rPr lang="en-US" sz="1400" b="1" dirty="0">
                <a:solidFill>
                  <a:srgbClr val="27AE60"/>
                </a:solidFill>
                <a:latin typeface="Cambria" pitchFamily="34" charset="0"/>
                <a:ea typeface="Cambria" pitchFamily="34" charset="-122"/>
                <a:cs typeface="Cambria" pitchFamily="34" charset="-120"/>
              </a:rPr>
              <a:t>Cleaned &amp; Validated Dataset</a:t>
            </a:r>
            <a:endParaRPr lang="en-US" sz="1400" dirty="0"/>
          </a:p>
        </p:txBody>
      </p:sp>
      <p:sp>
        <p:nvSpPr>
          <p:cNvPr id="14" name="Text 12"/>
          <p:cNvSpPr/>
          <p:nvPr/>
        </p:nvSpPr>
        <p:spPr>
          <a:xfrm>
            <a:off x="4617720" y="2084832"/>
            <a:ext cx="4160520" cy="2331720"/>
          </a:xfrm>
          <a:prstGeom prst="rect">
            <a:avLst/>
          </a:prstGeom>
          <a:noFill/>
          <a:ln/>
        </p:spPr>
        <p:txBody>
          <a:bodyPr wrap="square" rtlCol="0" anchor="ctr"/>
          <a:lstStyle/>
          <a:p>
            <a:pPr marL="342900" indent="-342900">
              <a:spcAft>
                <a:spcPts val="500"/>
              </a:spcAft>
              <a:buSzPct val="100000"/>
              <a:buChar char="•"/>
            </a:pPr>
            <a:r>
              <a:rPr lang="en-US" sz="1100" dirty="0">
                <a:solidFill>
                  <a:srgbClr val="F0F4F8"/>
                </a:solidFill>
                <a:latin typeface="Calibri" pitchFamily="34" charset="0"/>
                <a:ea typeface="Calibri" pitchFamily="34" charset="-122"/>
                <a:cs typeface="Calibri" pitchFamily="34" charset="-120"/>
              </a:rPr>
              <a:t>Outlier retained — confirmed genuine botanical variance, not error</a:t>
            </a:r>
            <a:endParaRPr lang="en-US" sz="1100" dirty="0"/>
          </a:p>
          <a:p>
            <a:pPr marL="342900" indent="-342900">
              <a:spcAft>
                <a:spcPts val="500"/>
              </a:spcAft>
              <a:buSzPct val="100000"/>
              <a:buChar char="•"/>
            </a:pPr>
            <a:r>
              <a:rPr lang="en-US" sz="1100" dirty="0">
                <a:solidFill>
                  <a:srgbClr val="F0F4F8"/>
                </a:solidFill>
                <a:latin typeface="Calibri" pitchFamily="34" charset="0"/>
                <a:ea typeface="Calibri" pitchFamily="34" charset="-122"/>
                <a:cs typeface="Calibri" pitchFamily="34" charset="-120"/>
              </a:rPr>
              <a:t>Id column removed — no predictive or analytical value</a:t>
            </a:r>
            <a:endParaRPr lang="en-US" sz="1100" dirty="0"/>
          </a:p>
          <a:p>
            <a:pPr marL="342900" indent="-342900">
              <a:spcAft>
                <a:spcPts val="500"/>
              </a:spcAft>
              <a:buSzPct val="100000"/>
              <a:buChar char="•"/>
            </a:pPr>
            <a:r>
              <a:rPr lang="en-US" sz="1100" dirty="0">
                <a:solidFill>
                  <a:srgbClr val="F0F4F8"/>
                </a:solidFill>
                <a:latin typeface="Calibri" pitchFamily="34" charset="0"/>
                <a:ea typeface="Calibri" pitchFamily="34" charset="-122"/>
                <a:cs typeface="Calibri" pitchFamily="34" charset="-120"/>
              </a:rPr>
              <a:t>Species labels standardized for uniform modelling input</a:t>
            </a:r>
            <a:endParaRPr lang="en-US" sz="1100" dirty="0"/>
          </a:p>
          <a:p>
            <a:pPr marL="342900" indent="-342900">
              <a:spcAft>
                <a:spcPts val="500"/>
              </a:spcAft>
              <a:buSzPct val="100000"/>
              <a:buChar char="•"/>
            </a:pPr>
            <a:r>
              <a:rPr lang="en-US" sz="1100" dirty="0">
                <a:solidFill>
                  <a:srgbClr val="F0F4F8"/>
                </a:solidFill>
                <a:latin typeface="Calibri" pitchFamily="34" charset="0"/>
                <a:ea typeface="Calibri" pitchFamily="34" charset="-122"/>
                <a:cs typeface="Calibri" pitchFamily="34" charset="-120"/>
              </a:rPr>
              <a:t>All 4 measurement columns confirmed numeric and within biological norms</a:t>
            </a:r>
            <a:endParaRPr lang="en-US" sz="1100" dirty="0"/>
          </a:p>
          <a:p>
            <a:pPr marL="342900" indent="-342900">
              <a:spcAft>
                <a:spcPts val="500"/>
              </a:spcAft>
              <a:buSzPct val="100000"/>
              <a:buChar char="•"/>
            </a:pPr>
            <a:r>
              <a:rPr lang="en-US" sz="1100" dirty="0">
                <a:solidFill>
                  <a:srgbClr val="F0F4F8"/>
                </a:solidFill>
                <a:latin typeface="Calibri" pitchFamily="34" charset="0"/>
                <a:ea typeface="Calibri" pitchFamily="34" charset="-122"/>
                <a:cs typeface="Calibri" pitchFamily="34" charset="-120"/>
              </a:rPr>
              <a:t>Dataset validated: 150 records × 5 analysis columns</a:t>
            </a:r>
            <a:endParaRPr lang="en-US" sz="1100" dirty="0"/>
          </a:p>
          <a:p>
            <a:pPr marL="342900" indent="-342900">
              <a:spcAft>
                <a:spcPts val="500"/>
              </a:spcAft>
              <a:buSzPct val="100000"/>
              <a:buChar char="•"/>
            </a:pPr>
            <a:r>
              <a:rPr lang="en-US" sz="1100" dirty="0">
                <a:solidFill>
                  <a:srgbClr val="F0F4F8"/>
                </a:solidFill>
                <a:latin typeface="Calibri" pitchFamily="34" charset="0"/>
                <a:ea typeface="Calibri" pitchFamily="34" charset="-122"/>
                <a:cs typeface="Calibri" pitchFamily="34" charset="-120"/>
              </a:rPr>
              <a:t>Quality score: 100% — no imputation required</a:t>
            </a:r>
            <a:endParaRPr lang="en-US" sz="1100" dirty="0"/>
          </a:p>
        </p:txBody>
      </p:sp>
      <p:sp>
        <p:nvSpPr>
          <p:cNvPr id="15" name="Shape 13"/>
          <p:cNvSpPr/>
          <p:nvPr/>
        </p:nvSpPr>
        <p:spPr>
          <a:xfrm>
            <a:off x="274320" y="4645152"/>
            <a:ext cx="8595360" cy="384048"/>
          </a:xfrm>
          <a:prstGeom prst="roundRect">
            <a:avLst>
              <a:gd name="adj" fmla="val 19048"/>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16" name="Text 14"/>
          <p:cNvSpPr/>
          <p:nvPr/>
        </p:nvSpPr>
        <p:spPr>
          <a:xfrm>
            <a:off x="457200" y="4663440"/>
            <a:ext cx="1554480" cy="164592"/>
          </a:xfrm>
          <a:prstGeom prst="rect">
            <a:avLst/>
          </a:prstGeom>
          <a:noFill/>
          <a:ln/>
        </p:spPr>
        <p:txBody>
          <a:bodyPr wrap="square" rtlCol="0" anchor="ctr"/>
          <a:lstStyle/>
          <a:p>
            <a:pPr algn="ctr" indent="0" marL="0">
              <a:buNone/>
            </a:pPr>
            <a:r>
              <a:rPr lang="en-US" sz="850" dirty="0">
                <a:solidFill>
                  <a:srgbClr val="8B9CB3"/>
                </a:solidFill>
                <a:latin typeface="Calibri" pitchFamily="34" charset="0"/>
                <a:ea typeface="Calibri" pitchFamily="34" charset="-122"/>
                <a:cs typeface="Calibri" pitchFamily="34" charset="-120"/>
              </a:rPr>
              <a:t>Completeness</a:t>
            </a:r>
            <a:endParaRPr lang="en-US" sz="850" dirty="0"/>
          </a:p>
        </p:txBody>
      </p:sp>
      <p:sp>
        <p:nvSpPr>
          <p:cNvPr id="17" name="Text 15"/>
          <p:cNvSpPr/>
          <p:nvPr/>
        </p:nvSpPr>
        <p:spPr>
          <a:xfrm>
            <a:off x="457200" y="4828032"/>
            <a:ext cx="1554480" cy="182880"/>
          </a:xfrm>
          <a:prstGeom prst="rect">
            <a:avLst/>
          </a:prstGeom>
          <a:noFill/>
          <a:ln/>
        </p:spPr>
        <p:txBody>
          <a:bodyPr wrap="square" rtlCol="0" anchor="ctr"/>
          <a:lstStyle/>
          <a:p>
            <a:pPr algn="ctr" indent="0" marL="0">
              <a:buNone/>
            </a:pPr>
            <a:r>
              <a:rPr lang="en-US" sz="1000" b="1" dirty="0">
                <a:solidFill>
                  <a:srgbClr val="27AE60"/>
                </a:solidFill>
                <a:latin typeface="Calibri" pitchFamily="34" charset="0"/>
                <a:ea typeface="Calibri" pitchFamily="34" charset="-122"/>
                <a:cs typeface="Calibri" pitchFamily="34" charset="-120"/>
              </a:rPr>
              <a:t>100%</a:t>
            </a:r>
            <a:endParaRPr lang="en-US" sz="1000" dirty="0"/>
          </a:p>
        </p:txBody>
      </p:sp>
      <p:sp>
        <p:nvSpPr>
          <p:cNvPr id="18" name="Text 16"/>
          <p:cNvSpPr/>
          <p:nvPr/>
        </p:nvSpPr>
        <p:spPr>
          <a:xfrm>
            <a:off x="2148840" y="4663440"/>
            <a:ext cx="1554480" cy="164592"/>
          </a:xfrm>
          <a:prstGeom prst="rect">
            <a:avLst/>
          </a:prstGeom>
          <a:noFill/>
          <a:ln/>
        </p:spPr>
        <p:txBody>
          <a:bodyPr wrap="square" rtlCol="0" anchor="ctr"/>
          <a:lstStyle/>
          <a:p>
            <a:pPr algn="ctr" indent="0" marL="0">
              <a:buNone/>
            </a:pPr>
            <a:r>
              <a:rPr lang="en-US" sz="850" dirty="0">
                <a:solidFill>
                  <a:srgbClr val="8B9CB3"/>
                </a:solidFill>
                <a:latin typeface="Calibri" pitchFamily="34" charset="0"/>
                <a:ea typeface="Calibri" pitchFamily="34" charset="-122"/>
                <a:cs typeface="Calibri" pitchFamily="34" charset="-120"/>
              </a:rPr>
              <a:t>Consistency</a:t>
            </a:r>
            <a:endParaRPr lang="en-US" sz="850" dirty="0"/>
          </a:p>
        </p:txBody>
      </p:sp>
      <p:sp>
        <p:nvSpPr>
          <p:cNvPr id="19" name="Text 17"/>
          <p:cNvSpPr/>
          <p:nvPr/>
        </p:nvSpPr>
        <p:spPr>
          <a:xfrm>
            <a:off x="2148840" y="4828032"/>
            <a:ext cx="1554480" cy="182880"/>
          </a:xfrm>
          <a:prstGeom prst="rect">
            <a:avLst/>
          </a:prstGeom>
          <a:noFill/>
          <a:ln/>
        </p:spPr>
        <p:txBody>
          <a:bodyPr wrap="square" rtlCol="0" anchor="ctr"/>
          <a:lstStyle/>
          <a:p>
            <a:pPr algn="ctr" indent="0" marL="0">
              <a:buNone/>
            </a:pPr>
            <a:r>
              <a:rPr lang="en-US" sz="1000" b="1" dirty="0">
                <a:solidFill>
                  <a:srgbClr val="27AE60"/>
                </a:solidFill>
                <a:latin typeface="Calibri" pitchFamily="34" charset="0"/>
                <a:ea typeface="Calibri" pitchFamily="34" charset="-122"/>
                <a:cs typeface="Calibri" pitchFamily="34" charset="-120"/>
              </a:rPr>
              <a:t>100%</a:t>
            </a:r>
            <a:endParaRPr lang="en-US" sz="1000" dirty="0"/>
          </a:p>
        </p:txBody>
      </p:sp>
      <p:sp>
        <p:nvSpPr>
          <p:cNvPr id="20" name="Text 18"/>
          <p:cNvSpPr/>
          <p:nvPr/>
        </p:nvSpPr>
        <p:spPr>
          <a:xfrm>
            <a:off x="3840480" y="4663440"/>
            <a:ext cx="1554480" cy="164592"/>
          </a:xfrm>
          <a:prstGeom prst="rect">
            <a:avLst/>
          </a:prstGeom>
          <a:noFill/>
          <a:ln/>
        </p:spPr>
        <p:txBody>
          <a:bodyPr wrap="square" rtlCol="0" anchor="ctr"/>
          <a:lstStyle/>
          <a:p>
            <a:pPr algn="ctr" indent="0" marL="0">
              <a:buNone/>
            </a:pPr>
            <a:r>
              <a:rPr lang="en-US" sz="850" dirty="0">
                <a:solidFill>
                  <a:srgbClr val="8B9CB3"/>
                </a:solidFill>
                <a:latin typeface="Calibri" pitchFamily="34" charset="0"/>
                <a:ea typeface="Calibri" pitchFamily="34" charset="-122"/>
                <a:cs typeface="Calibri" pitchFamily="34" charset="-120"/>
              </a:rPr>
              <a:t>Balance</a:t>
            </a:r>
            <a:endParaRPr lang="en-US" sz="850" dirty="0"/>
          </a:p>
        </p:txBody>
      </p:sp>
      <p:sp>
        <p:nvSpPr>
          <p:cNvPr id="21" name="Text 19"/>
          <p:cNvSpPr/>
          <p:nvPr/>
        </p:nvSpPr>
        <p:spPr>
          <a:xfrm>
            <a:off x="3840480" y="4828032"/>
            <a:ext cx="1554480" cy="182880"/>
          </a:xfrm>
          <a:prstGeom prst="rect">
            <a:avLst/>
          </a:prstGeom>
          <a:noFill/>
          <a:ln/>
        </p:spPr>
        <p:txBody>
          <a:bodyPr wrap="square" rtlCol="0" anchor="ctr"/>
          <a:lstStyle/>
          <a:p>
            <a:pPr algn="ctr" indent="0" marL="0">
              <a:buNone/>
            </a:pPr>
            <a:r>
              <a:rPr lang="en-US" sz="1000" b="1" dirty="0">
                <a:solidFill>
                  <a:srgbClr val="27AE60"/>
                </a:solidFill>
                <a:latin typeface="Calibri" pitchFamily="34" charset="0"/>
                <a:ea typeface="Calibri" pitchFamily="34" charset="-122"/>
                <a:cs typeface="Calibri" pitchFamily="34" charset="-120"/>
              </a:rPr>
              <a:t>100%</a:t>
            </a:r>
            <a:endParaRPr lang="en-US" sz="1000" dirty="0"/>
          </a:p>
        </p:txBody>
      </p:sp>
      <p:sp>
        <p:nvSpPr>
          <p:cNvPr id="22" name="Text 20"/>
          <p:cNvSpPr/>
          <p:nvPr/>
        </p:nvSpPr>
        <p:spPr>
          <a:xfrm>
            <a:off x="5532120" y="4663440"/>
            <a:ext cx="1554480" cy="164592"/>
          </a:xfrm>
          <a:prstGeom prst="rect">
            <a:avLst/>
          </a:prstGeom>
          <a:noFill/>
          <a:ln/>
        </p:spPr>
        <p:txBody>
          <a:bodyPr wrap="square" rtlCol="0" anchor="ctr"/>
          <a:lstStyle/>
          <a:p>
            <a:pPr algn="ctr" indent="0" marL="0">
              <a:buNone/>
            </a:pPr>
            <a:r>
              <a:rPr lang="en-US" sz="850" dirty="0">
                <a:solidFill>
                  <a:srgbClr val="8B9CB3"/>
                </a:solidFill>
                <a:latin typeface="Calibri" pitchFamily="34" charset="0"/>
                <a:ea typeface="Calibri" pitchFamily="34" charset="-122"/>
                <a:cs typeface="Calibri" pitchFamily="34" charset="-120"/>
              </a:rPr>
              <a:t>Outliers</a:t>
            </a:r>
            <a:endParaRPr lang="en-US" sz="850" dirty="0"/>
          </a:p>
        </p:txBody>
      </p:sp>
      <p:sp>
        <p:nvSpPr>
          <p:cNvPr id="23" name="Text 21"/>
          <p:cNvSpPr/>
          <p:nvPr/>
        </p:nvSpPr>
        <p:spPr>
          <a:xfrm>
            <a:off x="5532120" y="4828032"/>
            <a:ext cx="1554480" cy="182880"/>
          </a:xfrm>
          <a:prstGeom prst="rect">
            <a:avLst/>
          </a:prstGeom>
          <a:noFill/>
          <a:ln/>
        </p:spPr>
        <p:txBody>
          <a:bodyPr wrap="square" rtlCol="0" anchor="ctr"/>
          <a:lstStyle/>
          <a:p>
            <a:pPr algn="ctr" indent="0" marL="0">
              <a:buNone/>
            </a:pPr>
            <a:r>
              <a:rPr lang="en-US" sz="1000" b="1" dirty="0">
                <a:solidFill>
                  <a:srgbClr val="D4AC0D"/>
                </a:solidFill>
                <a:latin typeface="Calibri" pitchFamily="34" charset="0"/>
                <a:ea typeface="Calibri" pitchFamily="34" charset="-122"/>
                <a:cs typeface="Calibri" pitchFamily="34" charset="-120"/>
              </a:rPr>
              <a:t>1 (kept)</a:t>
            </a:r>
            <a:endParaRPr lang="en-US" sz="1000" dirty="0"/>
          </a:p>
        </p:txBody>
      </p:sp>
      <p:sp>
        <p:nvSpPr>
          <p:cNvPr id="24" name="Text 22"/>
          <p:cNvSpPr/>
          <p:nvPr/>
        </p:nvSpPr>
        <p:spPr>
          <a:xfrm>
            <a:off x="7223760" y="4663440"/>
            <a:ext cx="1554480" cy="164592"/>
          </a:xfrm>
          <a:prstGeom prst="rect">
            <a:avLst/>
          </a:prstGeom>
          <a:noFill/>
          <a:ln/>
        </p:spPr>
        <p:txBody>
          <a:bodyPr wrap="square" rtlCol="0" anchor="ctr"/>
          <a:lstStyle/>
          <a:p>
            <a:pPr algn="ctr" indent="0" marL="0">
              <a:buNone/>
            </a:pPr>
            <a:r>
              <a:rPr lang="en-US" sz="850" dirty="0">
                <a:solidFill>
                  <a:srgbClr val="8B9CB3"/>
                </a:solidFill>
                <a:latin typeface="Calibri" pitchFamily="34" charset="0"/>
                <a:ea typeface="Calibri" pitchFamily="34" charset="-122"/>
                <a:cs typeface="Calibri" pitchFamily="34" charset="-120"/>
              </a:rPr>
              <a:t>Duplicates</a:t>
            </a:r>
            <a:endParaRPr lang="en-US" sz="850" dirty="0"/>
          </a:p>
        </p:txBody>
      </p:sp>
      <p:sp>
        <p:nvSpPr>
          <p:cNvPr id="25" name="Text 23"/>
          <p:cNvSpPr/>
          <p:nvPr/>
        </p:nvSpPr>
        <p:spPr>
          <a:xfrm>
            <a:off x="7223760" y="4828032"/>
            <a:ext cx="1554480" cy="182880"/>
          </a:xfrm>
          <a:prstGeom prst="rect">
            <a:avLst/>
          </a:prstGeom>
          <a:noFill/>
          <a:ln/>
        </p:spPr>
        <p:txBody>
          <a:bodyPr wrap="square" rtlCol="0" anchor="ctr"/>
          <a:lstStyle/>
          <a:p>
            <a:pPr algn="ctr" indent="0" marL="0">
              <a:buNone/>
            </a:pPr>
            <a:r>
              <a:rPr lang="en-US" sz="1000" b="1" dirty="0">
                <a:solidFill>
                  <a:srgbClr val="27AE60"/>
                </a:solidFill>
                <a:latin typeface="Calibri" pitchFamily="34" charset="0"/>
                <a:ea typeface="Calibri" pitchFamily="34" charset="-122"/>
                <a:cs typeface="Calibri" pitchFamily="34" charset="-120"/>
              </a:rPr>
              <a:t>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1A5276"/>
          </a:solidFill>
          <a:ln w="12700">
            <a:solidFill>
              <a:srgbClr val="1A5276"/>
            </a:solidFill>
            <a:prstDash val="solid"/>
          </a:ln>
        </p:spPr>
      </p:sp>
      <p:sp>
        <p:nvSpPr>
          <p:cNvPr id="3" name="Text 1"/>
          <p:cNvSpPr/>
          <p:nvPr/>
        </p:nvSpPr>
        <p:spPr>
          <a:xfrm>
            <a:off x="365760" y="36576"/>
            <a:ext cx="8412480" cy="274320"/>
          </a:xfrm>
          <a:prstGeom prst="rect">
            <a:avLst/>
          </a:prstGeom>
          <a:noFill/>
          <a:ln/>
        </p:spPr>
        <p:txBody>
          <a:bodyPr wrap="square" rtlCol="0" anchor="ctr"/>
          <a:lstStyle/>
          <a:p>
            <a:pPr indent="0" marL="0">
              <a:buNone/>
            </a:pPr>
            <a:r>
              <a:rPr lang="en-US" sz="900" b="1" spc="300" kern="0" dirty="0">
                <a:solidFill>
                  <a:srgbClr val="F0F4F8"/>
                </a:solidFill>
              </a:rPr>
              <a:t>KEY INSIGHTS  |  SLIDE 5 OF 12</a:t>
            </a:r>
            <a:endParaRPr lang="en-US" sz="900" dirty="0"/>
          </a:p>
        </p:txBody>
      </p:sp>
      <p:sp>
        <p:nvSpPr>
          <p:cNvPr id="4" name="Text 2"/>
          <p:cNvSpPr/>
          <p:nvPr/>
        </p:nvSpPr>
        <p:spPr>
          <a:xfrm>
            <a:off x="411480" y="502920"/>
            <a:ext cx="8321040" cy="594360"/>
          </a:xfrm>
          <a:prstGeom prst="rect">
            <a:avLst/>
          </a:prstGeom>
          <a:noFill/>
          <a:ln/>
        </p:spPr>
        <p:txBody>
          <a:bodyPr wrap="square" rtlCol="0" anchor="t"/>
          <a:lstStyle/>
          <a:p>
            <a:pPr indent="0" marL="0">
              <a:buNone/>
            </a:pPr>
            <a:r>
              <a:rPr lang="en-US" sz="2500" b="1" dirty="0">
                <a:solidFill>
                  <a:srgbClr val="F0F4F8"/>
                </a:solidFill>
                <a:latin typeface="Cambria" pitchFamily="34" charset="0"/>
                <a:ea typeface="Cambria" pitchFamily="34" charset="-122"/>
                <a:cs typeface="Cambria" pitchFamily="34" charset="-120"/>
              </a:rPr>
              <a:t>Feature Pair Plot: Cross-Variable Relationships</a:t>
            </a:r>
            <a:endParaRPr lang="en-US" sz="2500" dirty="0"/>
          </a:p>
        </p:txBody>
      </p:sp>
      <p:sp>
        <p:nvSpPr>
          <p:cNvPr id="5" name="Text 3"/>
          <p:cNvSpPr/>
          <p:nvPr/>
        </p:nvSpPr>
        <p:spPr>
          <a:xfrm>
            <a:off x="411480" y="1051560"/>
            <a:ext cx="8321040" cy="274320"/>
          </a:xfrm>
          <a:prstGeom prst="rect">
            <a:avLst/>
          </a:prstGeom>
          <a:noFill/>
          <a:ln/>
        </p:spPr>
        <p:txBody>
          <a:bodyPr wrap="square" rtlCol="0" anchor="ctr"/>
          <a:lstStyle/>
          <a:p>
            <a:pPr indent="0" marL="0">
              <a:buNone/>
            </a:pPr>
            <a:r>
              <a:rPr lang="en-US" sz="1200" i="1" dirty="0">
                <a:solidFill>
                  <a:srgbClr val="8B9CB3"/>
                </a:solidFill>
                <a:latin typeface="Calibri" pitchFamily="34" charset="0"/>
                <a:ea typeface="Calibri" pitchFamily="34" charset="-122"/>
                <a:cs typeface="Calibri" pitchFamily="34" charset="-120"/>
              </a:rPr>
              <a:t>Every measurement plotted against every other — revealing which dimensions cleanly separate species</a:t>
            </a:r>
            <a:endParaRPr lang="en-US" sz="1200" dirty="0"/>
          </a:p>
        </p:txBody>
      </p:sp>
      <p:pic>
        <p:nvPicPr>
          <p:cNvPr id="6" name="Image 0" descr="/home/claude/charts/pair_plot.png">    </p:cNvPr>
          <p:cNvPicPr>
            <a:picLocks noChangeAspect="1"/>
          </p:cNvPicPr>
          <p:nvPr/>
        </p:nvPicPr>
        <p:blipFill>
          <a:blip r:embed="rId1"/>
          <a:stretch>
            <a:fillRect/>
          </a:stretch>
        </p:blipFill>
        <p:spPr>
          <a:xfrm>
            <a:off x="411480" y="1389888"/>
            <a:ext cx="8321040" cy="3154680"/>
          </a:xfrm>
          <a:prstGeom prst="rect">
            <a:avLst/>
          </a:prstGeom>
        </p:spPr>
      </p:pic>
      <p:sp>
        <p:nvSpPr>
          <p:cNvPr id="7" name="Shape 4"/>
          <p:cNvSpPr/>
          <p:nvPr/>
        </p:nvSpPr>
        <p:spPr>
          <a:xfrm>
            <a:off x="274320" y="4645152"/>
            <a:ext cx="8595360" cy="502920"/>
          </a:xfrm>
          <a:prstGeom prst="roundRect">
            <a:avLst>
              <a:gd name="adj" fmla="val 14545"/>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8" name="Text 5"/>
          <p:cNvSpPr/>
          <p:nvPr/>
        </p:nvSpPr>
        <p:spPr>
          <a:xfrm>
            <a:off x="384048" y="4681728"/>
            <a:ext cx="8375904" cy="429768"/>
          </a:xfrm>
          <a:prstGeom prst="rect">
            <a:avLst/>
          </a:prstGeom>
          <a:noFill/>
          <a:ln/>
        </p:spPr>
        <p:txBody>
          <a:bodyPr wrap="square" rtlCol="0" anchor="ctr"/>
          <a:lstStyle/>
          <a:p>
            <a:pPr indent="0" marL="0">
              <a:buNone/>
            </a:pPr>
            <a:r>
              <a:rPr lang="en-US" sz="1000" b="1" dirty="0">
                <a:solidFill>
                  <a:srgbClr val="D4AC0D"/>
                </a:solidFill>
                <a:latin typeface="Calibri" pitchFamily="34" charset="0"/>
                <a:ea typeface="Calibri" pitchFamily="34" charset="-122"/>
                <a:cs typeface="Calibri" pitchFamily="34" charset="-120"/>
              </a:rPr>
              <a:t>▶  Business Takeaway:  </a:t>
            </a:r>
            <a:pPr indent="0" marL="0">
              <a:buNone/>
            </a:pPr>
            <a:r>
              <a:rPr lang="en-US" sz="1000" i="1" dirty="0">
                <a:solidFill>
                  <a:srgbClr val="F0F4F8"/>
                </a:solidFill>
                <a:latin typeface="Calibri" pitchFamily="34" charset="0"/>
                <a:ea typeface="Calibri" pitchFamily="34" charset="-122"/>
                <a:cs typeface="Calibri" pitchFamily="34" charset="-120"/>
              </a:rPr>
              <a:t>This suggests that Petal Length and Petal Width are the dominant discriminators — Setosa is fully isolated, while Versicolor and Virginica overlap only marginally. Therefore, field rules should lead with petal measurements.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1A5276"/>
          </a:solidFill>
          <a:ln w="12700">
            <a:solidFill>
              <a:srgbClr val="1A5276"/>
            </a:solidFill>
            <a:prstDash val="solid"/>
          </a:ln>
        </p:spPr>
      </p:sp>
      <p:sp>
        <p:nvSpPr>
          <p:cNvPr id="3" name="Text 1"/>
          <p:cNvSpPr/>
          <p:nvPr/>
        </p:nvSpPr>
        <p:spPr>
          <a:xfrm>
            <a:off x="365760" y="36576"/>
            <a:ext cx="8412480" cy="274320"/>
          </a:xfrm>
          <a:prstGeom prst="rect">
            <a:avLst/>
          </a:prstGeom>
          <a:noFill/>
          <a:ln/>
        </p:spPr>
        <p:txBody>
          <a:bodyPr wrap="square" rtlCol="0" anchor="ctr"/>
          <a:lstStyle/>
          <a:p>
            <a:pPr indent="0" marL="0">
              <a:buNone/>
            </a:pPr>
            <a:r>
              <a:rPr lang="en-US" sz="900" b="1" spc="300" kern="0" dirty="0">
                <a:solidFill>
                  <a:srgbClr val="F0F4F8"/>
                </a:solidFill>
              </a:rPr>
              <a:t>KEY INSIGHTS  |  SLIDE 6 OF 12</a:t>
            </a:r>
            <a:endParaRPr lang="en-US" sz="900" dirty="0"/>
          </a:p>
        </p:txBody>
      </p:sp>
      <p:sp>
        <p:nvSpPr>
          <p:cNvPr id="4" name="Text 2"/>
          <p:cNvSpPr/>
          <p:nvPr/>
        </p:nvSpPr>
        <p:spPr>
          <a:xfrm>
            <a:off x="411480" y="502920"/>
            <a:ext cx="8321040" cy="594360"/>
          </a:xfrm>
          <a:prstGeom prst="rect">
            <a:avLst/>
          </a:prstGeom>
          <a:noFill/>
          <a:ln/>
        </p:spPr>
        <p:txBody>
          <a:bodyPr wrap="square" rtlCol="0" anchor="t"/>
          <a:lstStyle/>
          <a:p>
            <a:pPr indent="0" marL="0">
              <a:buNone/>
            </a:pPr>
            <a:r>
              <a:rPr lang="en-US" sz="2500" b="1" dirty="0">
                <a:solidFill>
                  <a:srgbClr val="F0F4F8"/>
                </a:solidFill>
                <a:latin typeface="Cambria" pitchFamily="34" charset="0"/>
                <a:ea typeface="Cambria" pitchFamily="34" charset="-122"/>
                <a:cs typeface="Cambria" pitchFamily="34" charset="-120"/>
              </a:rPr>
              <a:t>Natural Species Boundaries in Petal Dimensions</a:t>
            </a:r>
            <a:endParaRPr lang="en-US" sz="2500" dirty="0"/>
          </a:p>
        </p:txBody>
      </p:sp>
      <p:pic>
        <p:nvPicPr>
          <p:cNvPr id="5" name="Image 0" descr="/home/claude/charts/petal_scatter.png">    </p:cNvPr>
          <p:cNvPicPr>
            <a:picLocks noChangeAspect="1"/>
          </p:cNvPicPr>
          <p:nvPr/>
        </p:nvPicPr>
        <p:blipFill>
          <a:blip r:embed="rId1"/>
          <a:stretch>
            <a:fillRect/>
          </a:stretch>
        </p:blipFill>
        <p:spPr>
          <a:xfrm>
            <a:off x="320040" y="1170432"/>
            <a:ext cx="5577840" cy="3429000"/>
          </a:xfrm>
          <a:prstGeom prst="rect">
            <a:avLst/>
          </a:prstGeom>
        </p:spPr>
      </p:pic>
      <p:sp>
        <p:nvSpPr>
          <p:cNvPr id="6" name="Shape 3"/>
          <p:cNvSpPr/>
          <p:nvPr/>
        </p:nvSpPr>
        <p:spPr>
          <a:xfrm>
            <a:off x="6126480" y="1234440"/>
            <a:ext cx="2743200" cy="960120"/>
          </a:xfrm>
          <a:prstGeom prst="roundRect">
            <a:avLst>
              <a:gd name="adj" fmla="val 7619"/>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7" name="Shape 4"/>
          <p:cNvSpPr/>
          <p:nvPr/>
        </p:nvSpPr>
        <p:spPr>
          <a:xfrm>
            <a:off x="6236208" y="1307592"/>
            <a:ext cx="822960" cy="228600"/>
          </a:xfrm>
          <a:prstGeom prst="roundRect">
            <a:avLst>
              <a:gd name="adj" fmla="val 16000"/>
            </a:avLst>
          </a:prstGeom>
          <a:solidFill>
            <a:srgbClr val="2E86C1"/>
          </a:solidFill>
          <a:ln w="12700">
            <a:solidFill>
              <a:srgbClr val="2E86C1"/>
            </a:solidFill>
            <a:prstDash val="solid"/>
          </a:ln>
        </p:spPr>
      </p:sp>
      <p:sp>
        <p:nvSpPr>
          <p:cNvPr id="8" name="Text 5"/>
          <p:cNvSpPr/>
          <p:nvPr/>
        </p:nvSpPr>
        <p:spPr>
          <a:xfrm>
            <a:off x="6236208" y="1307592"/>
            <a:ext cx="822960" cy="228600"/>
          </a:xfrm>
          <a:prstGeom prst="rect">
            <a:avLst/>
          </a:prstGeom>
          <a:noFill/>
          <a:ln/>
        </p:spPr>
        <p:txBody>
          <a:bodyPr wrap="square" rtlCol="0" anchor="ctr"/>
          <a:lstStyle/>
          <a:p>
            <a:pPr algn="ctr" indent="0" marL="0">
              <a:buNone/>
            </a:pPr>
            <a:r>
              <a:rPr lang="en-US" sz="800" b="1" dirty="0">
                <a:solidFill>
                  <a:srgbClr val="F0F4F8"/>
                </a:solidFill>
              </a:rPr>
              <a:t>SETOSA</a:t>
            </a:r>
            <a:endParaRPr lang="en-US" sz="800" dirty="0"/>
          </a:p>
        </p:txBody>
      </p:sp>
      <p:sp>
        <p:nvSpPr>
          <p:cNvPr id="9" name="Text 6"/>
          <p:cNvSpPr/>
          <p:nvPr/>
        </p:nvSpPr>
        <p:spPr>
          <a:xfrm>
            <a:off x="6236208" y="1581912"/>
            <a:ext cx="2523744" cy="530352"/>
          </a:xfrm>
          <a:prstGeom prst="rect">
            <a:avLst/>
          </a:prstGeom>
          <a:noFill/>
          <a:ln/>
        </p:spPr>
        <p:txBody>
          <a:bodyPr wrap="square" rtlCol="0" anchor="ctr"/>
          <a:lstStyle/>
          <a:p>
            <a:pPr indent="0" marL="0">
              <a:buNone/>
            </a:pPr>
            <a:r>
              <a:rPr lang="en-US" sz="1050" dirty="0">
                <a:solidFill>
                  <a:srgbClr val="F0F4F8"/>
                </a:solidFill>
                <a:latin typeface="Calibri" pitchFamily="34" charset="0"/>
                <a:ea typeface="Calibri" pitchFamily="34" charset="-122"/>
                <a:cs typeface="Calibri" pitchFamily="34" charset="-120"/>
              </a:rPr>
              <a:t>Petal Length &lt; 2.5 cm — fully isolated cluster. Zero overlap with other species.</a:t>
            </a:r>
            <a:endParaRPr lang="en-US" sz="1050" dirty="0"/>
          </a:p>
        </p:txBody>
      </p:sp>
      <p:sp>
        <p:nvSpPr>
          <p:cNvPr id="10" name="Shape 7"/>
          <p:cNvSpPr/>
          <p:nvPr/>
        </p:nvSpPr>
        <p:spPr>
          <a:xfrm>
            <a:off x="6126480" y="2331720"/>
            <a:ext cx="2743200" cy="960120"/>
          </a:xfrm>
          <a:prstGeom prst="roundRect">
            <a:avLst>
              <a:gd name="adj" fmla="val 7619"/>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11" name="Shape 8"/>
          <p:cNvSpPr/>
          <p:nvPr/>
        </p:nvSpPr>
        <p:spPr>
          <a:xfrm>
            <a:off x="6236208" y="2404872"/>
            <a:ext cx="822960" cy="228600"/>
          </a:xfrm>
          <a:prstGeom prst="roundRect">
            <a:avLst>
              <a:gd name="adj" fmla="val 16000"/>
            </a:avLst>
          </a:prstGeom>
          <a:solidFill>
            <a:srgbClr val="27AE60"/>
          </a:solidFill>
          <a:ln w="12700">
            <a:solidFill>
              <a:srgbClr val="27AE60"/>
            </a:solidFill>
            <a:prstDash val="solid"/>
          </a:ln>
        </p:spPr>
      </p:sp>
      <p:sp>
        <p:nvSpPr>
          <p:cNvPr id="12" name="Text 9"/>
          <p:cNvSpPr/>
          <p:nvPr/>
        </p:nvSpPr>
        <p:spPr>
          <a:xfrm>
            <a:off x="6236208" y="2404872"/>
            <a:ext cx="822960" cy="228600"/>
          </a:xfrm>
          <a:prstGeom prst="rect">
            <a:avLst/>
          </a:prstGeom>
          <a:noFill/>
          <a:ln/>
        </p:spPr>
        <p:txBody>
          <a:bodyPr wrap="square" rtlCol="0" anchor="ctr"/>
          <a:lstStyle/>
          <a:p>
            <a:pPr algn="ctr" indent="0" marL="0">
              <a:buNone/>
            </a:pPr>
            <a:r>
              <a:rPr lang="en-US" sz="800" b="1" dirty="0">
                <a:solidFill>
                  <a:srgbClr val="F0F4F8"/>
                </a:solidFill>
              </a:rPr>
              <a:t>VERSICOLOR</a:t>
            </a:r>
            <a:endParaRPr lang="en-US" sz="800" dirty="0"/>
          </a:p>
        </p:txBody>
      </p:sp>
      <p:sp>
        <p:nvSpPr>
          <p:cNvPr id="13" name="Text 10"/>
          <p:cNvSpPr/>
          <p:nvPr/>
        </p:nvSpPr>
        <p:spPr>
          <a:xfrm>
            <a:off x="6236208" y="2679192"/>
            <a:ext cx="2523744" cy="530352"/>
          </a:xfrm>
          <a:prstGeom prst="rect">
            <a:avLst/>
          </a:prstGeom>
          <a:noFill/>
          <a:ln/>
        </p:spPr>
        <p:txBody>
          <a:bodyPr wrap="square" rtlCol="0" anchor="ctr"/>
          <a:lstStyle/>
          <a:p>
            <a:pPr indent="0" marL="0">
              <a:buNone/>
            </a:pPr>
            <a:r>
              <a:rPr lang="en-US" sz="1050" dirty="0">
                <a:solidFill>
                  <a:srgbClr val="F0F4F8"/>
                </a:solidFill>
                <a:latin typeface="Calibri" pitchFamily="34" charset="0"/>
                <a:ea typeface="Calibri" pitchFamily="34" charset="-122"/>
                <a:cs typeface="Calibri" pitchFamily="34" charset="-120"/>
              </a:rPr>
              <a:t>Petal Length 2.5–4.75 cm. Moderate overlap with Virginica at upper boundary.</a:t>
            </a:r>
            <a:endParaRPr lang="en-US" sz="1050" dirty="0"/>
          </a:p>
        </p:txBody>
      </p:sp>
      <p:sp>
        <p:nvSpPr>
          <p:cNvPr id="14" name="Shape 11"/>
          <p:cNvSpPr/>
          <p:nvPr/>
        </p:nvSpPr>
        <p:spPr>
          <a:xfrm>
            <a:off x="6126480" y="3429000"/>
            <a:ext cx="2743200" cy="960120"/>
          </a:xfrm>
          <a:prstGeom prst="roundRect">
            <a:avLst>
              <a:gd name="adj" fmla="val 7619"/>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15" name="Shape 12"/>
          <p:cNvSpPr/>
          <p:nvPr/>
        </p:nvSpPr>
        <p:spPr>
          <a:xfrm>
            <a:off x="6236208" y="3502152"/>
            <a:ext cx="822960" cy="228600"/>
          </a:xfrm>
          <a:prstGeom prst="roundRect">
            <a:avLst>
              <a:gd name="adj" fmla="val 16000"/>
            </a:avLst>
          </a:prstGeom>
          <a:solidFill>
            <a:srgbClr val="E74C3C"/>
          </a:solidFill>
          <a:ln w="12700">
            <a:solidFill>
              <a:srgbClr val="E74C3C"/>
            </a:solidFill>
            <a:prstDash val="solid"/>
          </a:ln>
        </p:spPr>
      </p:sp>
      <p:sp>
        <p:nvSpPr>
          <p:cNvPr id="16" name="Text 13"/>
          <p:cNvSpPr/>
          <p:nvPr/>
        </p:nvSpPr>
        <p:spPr>
          <a:xfrm>
            <a:off x="6236208" y="3502152"/>
            <a:ext cx="822960" cy="228600"/>
          </a:xfrm>
          <a:prstGeom prst="rect">
            <a:avLst/>
          </a:prstGeom>
          <a:noFill/>
          <a:ln/>
        </p:spPr>
        <p:txBody>
          <a:bodyPr wrap="square" rtlCol="0" anchor="ctr"/>
          <a:lstStyle/>
          <a:p>
            <a:pPr algn="ctr" indent="0" marL="0">
              <a:buNone/>
            </a:pPr>
            <a:r>
              <a:rPr lang="en-US" sz="800" b="1" dirty="0">
                <a:solidFill>
                  <a:srgbClr val="F0F4F8"/>
                </a:solidFill>
              </a:rPr>
              <a:t>VIRGINICA</a:t>
            </a:r>
            <a:endParaRPr lang="en-US" sz="800" dirty="0"/>
          </a:p>
        </p:txBody>
      </p:sp>
      <p:sp>
        <p:nvSpPr>
          <p:cNvPr id="17" name="Text 14"/>
          <p:cNvSpPr/>
          <p:nvPr/>
        </p:nvSpPr>
        <p:spPr>
          <a:xfrm>
            <a:off x="6236208" y="3776472"/>
            <a:ext cx="2523744" cy="530352"/>
          </a:xfrm>
          <a:prstGeom prst="rect">
            <a:avLst/>
          </a:prstGeom>
          <a:noFill/>
          <a:ln/>
        </p:spPr>
        <p:txBody>
          <a:bodyPr wrap="square" rtlCol="0" anchor="ctr"/>
          <a:lstStyle/>
          <a:p>
            <a:pPr indent="0" marL="0">
              <a:buNone/>
            </a:pPr>
            <a:r>
              <a:rPr lang="en-US" sz="1050" dirty="0">
                <a:solidFill>
                  <a:srgbClr val="F0F4F8"/>
                </a:solidFill>
                <a:latin typeface="Calibri" pitchFamily="34" charset="0"/>
                <a:ea typeface="Calibri" pitchFamily="34" charset="-122"/>
                <a:cs typeface="Calibri" pitchFamily="34" charset="-120"/>
              </a:rPr>
              <a:t>Petal Length &gt; 4.75 cm. Largest petals. Small zone of overlap with Versicolor.</a:t>
            </a:r>
            <a:endParaRPr lang="en-US" sz="1050" dirty="0"/>
          </a:p>
        </p:txBody>
      </p:sp>
      <p:sp>
        <p:nvSpPr>
          <p:cNvPr id="18" name="Shape 15"/>
          <p:cNvSpPr/>
          <p:nvPr/>
        </p:nvSpPr>
        <p:spPr>
          <a:xfrm>
            <a:off x="274320" y="4663440"/>
            <a:ext cx="8595360" cy="502920"/>
          </a:xfrm>
          <a:prstGeom prst="roundRect">
            <a:avLst>
              <a:gd name="adj" fmla="val 14545"/>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19" name="Text 16"/>
          <p:cNvSpPr/>
          <p:nvPr/>
        </p:nvSpPr>
        <p:spPr>
          <a:xfrm>
            <a:off x="384048" y="4700016"/>
            <a:ext cx="8375904" cy="429768"/>
          </a:xfrm>
          <a:prstGeom prst="rect">
            <a:avLst/>
          </a:prstGeom>
          <a:noFill/>
          <a:ln/>
        </p:spPr>
        <p:txBody>
          <a:bodyPr wrap="square" rtlCol="0" anchor="ctr"/>
          <a:lstStyle/>
          <a:p>
            <a:pPr indent="0" marL="0">
              <a:buNone/>
            </a:pPr>
            <a:r>
              <a:rPr lang="en-US" sz="1000" b="1" dirty="0">
                <a:solidFill>
                  <a:srgbClr val="D4AC0D"/>
                </a:solidFill>
                <a:latin typeface="Calibri" pitchFamily="34" charset="0"/>
                <a:ea typeface="Calibri" pitchFamily="34" charset="-122"/>
                <a:cs typeface="Calibri" pitchFamily="34" charset="-120"/>
              </a:rPr>
              <a:t>▶  Business Takeaway:  </a:t>
            </a:r>
            <a:pPr indent="0" marL="0">
              <a:buNone/>
            </a:pPr>
            <a:r>
              <a:rPr lang="en-US" sz="1000" i="1" dirty="0">
                <a:solidFill>
                  <a:srgbClr val="F0F4F8"/>
                </a:solidFill>
                <a:latin typeface="Calibri" pitchFamily="34" charset="0"/>
                <a:ea typeface="Calibri" pitchFamily="34" charset="-122"/>
                <a:cs typeface="Calibri" pitchFamily="34" charset="-120"/>
              </a:rPr>
              <a:t>The business implication is that two threshold rules on Petal Length alone can correctly classify ~97% of observed specimens. This eliminates the need for specialist judgment in routine fieldwork.</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1A5276"/>
          </a:solidFill>
          <a:ln w="12700">
            <a:solidFill>
              <a:srgbClr val="1A5276"/>
            </a:solidFill>
            <a:prstDash val="solid"/>
          </a:ln>
        </p:spPr>
      </p:sp>
      <p:sp>
        <p:nvSpPr>
          <p:cNvPr id="3" name="Text 1"/>
          <p:cNvSpPr/>
          <p:nvPr/>
        </p:nvSpPr>
        <p:spPr>
          <a:xfrm>
            <a:off x="365760" y="36576"/>
            <a:ext cx="8412480" cy="274320"/>
          </a:xfrm>
          <a:prstGeom prst="rect">
            <a:avLst/>
          </a:prstGeom>
          <a:noFill/>
          <a:ln/>
        </p:spPr>
        <p:txBody>
          <a:bodyPr wrap="square" rtlCol="0" anchor="ctr"/>
          <a:lstStyle/>
          <a:p>
            <a:pPr indent="0" marL="0">
              <a:buNone/>
            </a:pPr>
            <a:r>
              <a:rPr lang="en-US" sz="900" b="1" spc="300" kern="0" dirty="0">
                <a:solidFill>
                  <a:srgbClr val="F0F4F8"/>
                </a:solidFill>
              </a:rPr>
              <a:t>KEY INSIGHTS  |  SLIDE 7 OF 12</a:t>
            </a:r>
            <a:endParaRPr lang="en-US" sz="900" dirty="0"/>
          </a:p>
        </p:txBody>
      </p:sp>
      <p:sp>
        <p:nvSpPr>
          <p:cNvPr id="4" name="Text 2"/>
          <p:cNvSpPr/>
          <p:nvPr/>
        </p:nvSpPr>
        <p:spPr>
          <a:xfrm>
            <a:off x="411480" y="502920"/>
            <a:ext cx="8321040" cy="594360"/>
          </a:xfrm>
          <a:prstGeom prst="rect">
            <a:avLst/>
          </a:prstGeom>
          <a:noFill/>
          <a:ln/>
        </p:spPr>
        <p:txBody>
          <a:bodyPr wrap="square" rtlCol="0" anchor="t"/>
          <a:lstStyle/>
          <a:p>
            <a:pPr indent="0" marL="0">
              <a:buNone/>
            </a:pPr>
            <a:r>
              <a:rPr lang="en-US" sz="2500" b="1" dirty="0">
                <a:solidFill>
                  <a:srgbClr val="F0F4F8"/>
                </a:solidFill>
                <a:latin typeface="Cambria" pitchFamily="34" charset="0"/>
                <a:ea typeface="Cambria" pitchFamily="34" charset="-122"/>
                <a:cs typeface="Cambria" pitchFamily="34" charset="-120"/>
              </a:rPr>
              <a:t>Variance Analysis: How Much Species Overlap?</a:t>
            </a:r>
            <a:endParaRPr lang="en-US" sz="2500" dirty="0"/>
          </a:p>
        </p:txBody>
      </p:sp>
      <p:pic>
        <p:nvPicPr>
          <p:cNvPr id="5" name="Image 0" descr="/home/claude/charts/petal_boxplot.png">    </p:cNvPr>
          <p:cNvPicPr>
            <a:picLocks noChangeAspect="1"/>
          </p:cNvPicPr>
          <p:nvPr/>
        </p:nvPicPr>
        <p:blipFill>
          <a:blip r:embed="rId1"/>
          <a:stretch>
            <a:fillRect/>
          </a:stretch>
        </p:blipFill>
        <p:spPr>
          <a:xfrm>
            <a:off x="411480" y="1170432"/>
            <a:ext cx="8321040" cy="3310128"/>
          </a:xfrm>
          <a:prstGeom prst="rect">
            <a:avLst/>
          </a:prstGeom>
        </p:spPr>
      </p:pic>
      <p:sp>
        <p:nvSpPr>
          <p:cNvPr id="6" name="Shape 3"/>
          <p:cNvSpPr/>
          <p:nvPr/>
        </p:nvSpPr>
        <p:spPr>
          <a:xfrm>
            <a:off x="274320" y="4617720"/>
            <a:ext cx="8595360" cy="502920"/>
          </a:xfrm>
          <a:prstGeom prst="roundRect">
            <a:avLst>
              <a:gd name="adj" fmla="val 14545"/>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7" name="Text 4"/>
          <p:cNvSpPr/>
          <p:nvPr/>
        </p:nvSpPr>
        <p:spPr>
          <a:xfrm>
            <a:off x="384048" y="4654296"/>
            <a:ext cx="8375904" cy="429768"/>
          </a:xfrm>
          <a:prstGeom prst="rect">
            <a:avLst/>
          </a:prstGeom>
          <a:noFill/>
          <a:ln/>
        </p:spPr>
        <p:txBody>
          <a:bodyPr wrap="square" rtlCol="0" anchor="ctr"/>
          <a:lstStyle/>
          <a:p>
            <a:pPr indent="0" marL="0">
              <a:buNone/>
            </a:pPr>
            <a:r>
              <a:rPr lang="en-US" sz="1000" b="1" dirty="0">
                <a:solidFill>
                  <a:srgbClr val="D4AC0D"/>
                </a:solidFill>
                <a:latin typeface="Calibri" pitchFamily="34" charset="0"/>
                <a:ea typeface="Calibri" pitchFamily="34" charset="-122"/>
                <a:cs typeface="Calibri" pitchFamily="34" charset="-120"/>
              </a:rPr>
              <a:t>▶  Business Takeaway:  </a:t>
            </a:r>
            <a:pPr indent="0" marL="0">
              <a:buNone/>
            </a:pPr>
            <a:r>
              <a:rPr lang="en-US" sz="1000" i="1" dirty="0">
                <a:solidFill>
                  <a:srgbClr val="F0F4F8"/>
                </a:solidFill>
                <a:latin typeface="Calibri" pitchFamily="34" charset="0"/>
                <a:ea typeface="Calibri" pitchFamily="34" charset="-122"/>
                <a:cs typeface="Calibri" pitchFamily="34" charset="-120"/>
              </a:rPr>
              <a:t>This suggests that Setosa carries the lowest variance in petal dimensions — making it the easiest to classify. Virginica and Versicolor show higher spread, but their interquartile ranges remain distinct, confirming the viability of threshold-based rules.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1A5276"/>
          </a:solidFill>
          <a:ln w="12700">
            <a:solidFill>
              <a:srgbClr val="1A5276"/>
            </a:solidFill>
            <a:prstDash val="solid"/>
          </a:ln>
        </p:spPr>
      </p:sp>
      <p:sp>
        <p:nvSpPr>
          <p:cNvPr id="3" name="Text 1"/>
          <p:cNvSpPr/>
          <p:nvPr/>
        </p:nvSpPr>
        <p:spPr>
          <a:xfrm>
            <a:off x="365760" y="36576"/>
            <a:ext cx="8412480" cy="274320"/>
          </a:xfrm>
          <a:prstGeom prst="rect">
            <a:avLst/>
          </a:prstGeom>
          <a:noFill/>
          <a:ln/>
        </p:spPr>
        <p:txBody>
          <a:bodyPr wrap="square" rtlCol="0" anchor="ctr"/>
          <a:lstStyle/>
          <a:p>
            <a:pPr indent="0" marL="0">
              <a:buNone/>
            </a:pPr>
            <a:r>
              <a:rPr lang="en-US" sz="900" b="1" spc="300" kern="0" dirty="0">
                <a:solidFill>
                  <a:srgbClr val="F0F4F8"/>
                </a:solidFill>
              </a:rPr>
              <a:t>KEY INSIGHTS  |  SLIDE 8 OF 12</a:t>
            </a:r>
            <a:endParaRPr lang="en-US" sz="900" dirty="0"/>
          </a:p>
        </p:txBody>
      </p:sp>
      <p:sp>
        <p:nvSpPr>
          <p:cNvPr id="4" name="Text 2"/>
          <p:cNvSpPr/>
          <p:nvPr/>
        </p:nvSpPr>
        <p:spPr>
          <a:xfrm>
            <a:off x="411480" y="502920"/>
            <a:ext cx="8321040" cy="594360"/>
          </a:xfrm>
          <a:prstGeom prst="rect">
            <a:avLst/>
          </a:prstGeom>
          <a:noFill/>
          <a:ln/>
        </p:spPr>
        <p:txBody>
          <a:bodyPr wrap="square" rtlCol="0" anchor="t"/>
          <a:lstStyle/>
          <a:p>
            <a:pPr indent="0" marL="0">
              <a:buNone/>
            </a:pPr>
            <a:r>
              <a:rPr lang="en-US" sz="2500" b="1" dirty="0">
                <a:solidFill>
                  <a:srgbClr val="F0F4F8"/>
                </a:solidFill>
                <a:latin typeface="Cambria" pitchFamily="34" charset="0"/>
                <a:ea typeface="Cambria" pitchFamily="34" charset="-122"/>
                <a:cs typeface="Cambria" pitchFamily="34" charset="-120"/>
              </a:rPr>
              <a:t>Mean Feature Comparison Across All Three Species</a:t>
            </a:r>
            <a:endParaRPr lang="en-US" sz="2500" dirty="0"/>
          </a:p>
        </p:txBody>
      </p:sp>
      <p:pic>
        <p:nvPicPr>
          <p:cNvPr id="5" name="Image 0" descr="/home/claude/charts/mean_comparison.png">    </p:cNvPr>
          <p:cNvPicPr>
            <a:picLocks noChangeAspect="1"/>
          </p:cNvPicPr>
          <p:nvPr/>
        </p:nvPicPr>
        <p:blipFill>
          <a:blip r:embed="rId1"/>
          <a:stretch>
            <a:fillRect/>
          </a:stretch>
        </p:blipFill>
        <p:spPr>
          <a:xfrm>
            <a:off x="411480" y="1170432"/>
            <a:ext cx="8321040" cy="3310128"/>
          </a:xfrm>
          <a:prstGeom prst="rect">
            <a:avLst/>
          </a:prstGeom>
        </p:spPr>
      </p:pic>
      <p:sp>
        <p:nvSpPr>
          <p:cNvPr id="6" name="Shape 3"/>
          <p:cNvSpPr/>
          <p:nvPr/>
        </p:nvSpPr>
        <p:spPr>
          <a:xfrm>
            <a:off x="274320" y="4617720"/>
            <a:ext cx="8595360" cy="502920"/>
          </a:xfrm>
          <a:prstGeom prst="roundRect">
            <a:avLst>
              <a:gd name="adj" fmla="val 14545"/>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7" name="Text 4"/>
          <p:cNvSpPr/>
          <p:nvPr/>
        </p:nvSpPr>
        <p:spPr>
          <a:xfrm>
            <a:off x="384048" y="4654296"/>
            <a:ext cx="8375904" cy="429768"/>
          </a:xfrm>
          <a:prstGeom prst="rect">
            <a:avLst/>
          </a:prstGeom>
          <a:noFill/>
          <a:ln/>
        </p:spPr>
        <p:txBody>
          <a:bodyPr wrap="square" rtlCol="0" anchor="ctr"/>
          <a:lstStyle/>
          <a:p>
            <a:pPr indent="0" marL="0">
              <a:buNone/>
            </a:pPr>
            <a:r>
              <a:rPr lang="en-US" sz="1000" b="1" dirty="0">
                <a:solidFill>
                  <a:srgbClr val="D4AC0D"/>
                </a:solidFill>
                <a:latin typeface="Calibri" pitchFamily="34" charset="0"/>
                <a:ea typeface="Calibri" pitchFamily="34" charset="-122"/>
                <a:cs typeface="Calibri" pitchFamily="34" charset="-120"/>
              </a:rPr>
              <a:t>▶  Business Takeaway:  </a:t>
            </a:r>
            <a:pPr indent="0" marL="0">
              <a:buNone/>
            </a:pPr>
            <a:r>
              <a:rPr lang="en-US" sz="1000" i="1" dirty="0">
                <a:solidFill>
                  <a:srgbClr val="F0F4F8"/>
                </a:solidFill>
                <a:latin typeface="Calibri" pitchFamily="34" charset="0"/>
                <a:ea typeface="Calibri" pitchFamily="34" charset="-122"/>
                <a:cs typeface="Calibri" pitchFamily="34" charset="-120"/>
              </a:rPr>
              <a:t>Therefore, we should anchor classification protocols to Petal Length — it shows the largest mean difference between species (1.46 vs 4.26 vs 5.55 cm). Sepal Width is unreliable as a primary classifier due to near-identical group means.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1A5276"/>
          </a:solidFill>
          <a:ln w="12700">
            <a:solidFill>
              <a:srgbClr val="1A5276"/>
            </a:solidFill>
            <a:prstDash val="solid"/>
          </a:ln>
        </p:spPr>
      </p:sp>
      <p:sp>
        <p:nvSpPr>
          <p:cNvPr id="3" name="Text 1"/>
          <p:cNvSpPr/>
          <p:nvPr/>
        </p:nvSpPr>
        <p:spPr>
          <a:xfrm>
            <a:off x="365760" y="36576"/>
            <a:ext cx="8412480" cy="274320"/>
          </a:xfrm>
          <a:prstGeom prst="rect">
            <a:avLst/>
          </a:prstGeom>
          <a:noFill/>
          <a:ln/>
        </p:spPr>
        <p:txBody>
          <a:bodyPr wrap="square" rtlCol="0" anchor="ctr"/>
          <a:lstStyle/>
          <a:p>
            <a:pPr indent="0" marL="0">
              <a:buNone/>
            </a:pPr>
            <a:r>
              <a:rPr lang="en-US" sz="900" b="1" spc="300" kern="0" dirty="0">
                <a:solidFill>
                  <a:srgbClr val="F0F4F8"/>
                </a:solidFill>
              </a:rPr>
              <a:t>ML CLASSIFICATION  |  SLIDE 9 OF 12</a:t>
            </a:r>
            <a:endParaRPr lang="en-US" sz="900" dirty="0"/>
          </a:p>
        </p:txBody>
      </p:sp>
      <p:sp>
        <p:nvSpPr>
          <p:cNvPr id="4" name="Text 2"/>
          <p:cNvSpPr/>
          <p:nvPr/>
        </p:nvSpPr>
        <p:spPr>
          <a:xfrm>
            <a:off x="411480" y="502920"/>
            <a:ext cx="8321040" cy="594360"/>
          </a:xfrm>
          <a:prstGeom prst="rect">
            <a:avLst/>
          </a:prstGeom>
          <a:noFill/>
          <a:ln/>
        </p:spPr>
        <p:txBody>
          <a:bodyPr wrap="square" rtlCol="0" anchor="t"/>
          <a:lstStyle/>
          <a:p>
            <a:pPr indent="0" marL="0">
              <a:buNone/>
            </a:pPr>
            <a:r>
              <a:rPr lang="en-US" sz="2600" b="1" dirty="0">
                <a:solidFill>
                  <a:srgbClr val="F0F4F8"/>
                </a:solidFill>
                <a:latin typeface="Cambria" pitchFamily="34" charset="0"/>
                <a:ea typeface="Cambria" pitchFamily="34" charset="-122"/>
                <a:cs typeface="Cambria" pitchFamily="34" charset="-120"/>
              </a:rPr>
              <a:t>Predictive Classification: Approach &amp; Methodology</a:t>
            </a:r>
            <a:endParaRPr lang="en-US" sz="2600" dirty="0"/>
          </a:p>
        </p:txBody>
      </p:sp>
      <p:sp>
        <p:nvSpPr>
          <p:cNvPr id="5" name="Shape 3"/>
          <p:cNvSpPr/>
          <p:nvPr/>
        </p:nvSpPr>
        <p:spPr>
          <a:xfrm>
            <a:off x="274320" y="1280160"/>
            <a:ext cx="2011680" cy="2971800"/>
          </a:xfrm>
          <a:prstGeom prst="roundRect">
            <a:avLst>
              <a:gd name="adj" fmla="val 3636"/>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6" name="Shape 4"/>
          <p:cNvSpPr/>
          <p:nvPr/>
        </p:nvSpPr>
        <p:spPr>
          <a:xfrm>
            <a:off x="914400" y="1417320"/>
            <a:ext cx="685800" cy="685800"/>
          </a:xfrm>
          <a:prstGeom prst="roundRect">
            <a:avLst>
              <a:gd name="adj" fmla="val 16000"/>
            </a:avLst>
          </a:prstGeom>
          <a:solidFill>
            <a:srgbClr val="1A5276"/>
          </a:solidFill>
          <a:ln w="12700">
            <a:solidFill>
              <a:srgbClr val="1A5276"/>
            </a:solidFill>
            <a:prstDash val="solid"/>
          </a:ln>
        </p:spPr>
      </p:sp>
      <p:sp>
        <p:nvSpPr>
          <p:cNvPr id="7" name="Text 5"/>
          <p:cNvSpPr/>
          <p:nvPr/>
        </p:nvSpPr>
        <p:spPr>
          <a:xfrm>
            <a:off x="914400" y="1417320"/>
            <a:ext cx="685800" cy="685800"/>
          </a:xfrm>
          <a:prstGeom prst="rect">
            <a:avLst/>
          </a:prstGeom>
          <a:noFill/>
          <a:ln/>
        </p:spPr>
        <p:txBody>
          <a:bodyPr wrap="square" rtlCol="0" anchor="ctr"/>
          <a:lstStyle/>
          <a:p>
            <a:pPr algn="ctr" indent="0" marL="0">
              <a:buNone/>
            </a:pPr>
            <a:r>
              <a:rPr lang="en-US" sz="2000" b="1" dirty="0">
                <a:solidFill>
                  <a:srgbClr val="D4AC0D"/>
                </a:solidFill>
                <a:latin typeface="Cambria" pitchFamily="34" charset="0"/>
                <a:ea typeface="Cambria" pitchFamily="34" charset="-122"/>
                <a:cs typeface="Cambria" pitchFamily="34" charset="-120"/>
              </a:rPr>
              <a:t>01</a:t>
            </a:r>
            <a:endParaRPr lang="en-US" sz="2000" dirty="0"/>
          </a:p>
        </p:txBody>
      </p:sp>
      <p:sp>
        <p:nvSpPr>
          <p:cNvPr id="8" name="Text 6"/>
          <p:cNvSpPr/>
          <p:nvPr/>
        </p:nvSpPr>
        <p:spPr>
          <a:xfrm>
            <a:off x="411480" y="2212848"/>
            <a:ext cx="1737360" cy="411480"/>
          </a:xfrm>
          <a:prstGeom prst="rect">
            <a:avLst/>
          </a:prstGeom>
          <a:noFill/>
          <a:ln/>
        </p:spPr>
        <p:txBody>
          <a:bodyPr wrap="square" rtlCol="0" anchor="ctr"/>
          <a:lstStyle/>
          <a:p>
            <a:pPr algn="ctr" indent="0" marL="0">
              <a:buNone/>
            </a:pPr>
            <a:r>
              <a:rPr lang="en-US" sz="1300" b="1" dirty="0">
                <a:solidFill>
                  <a:srgbClr val="F0F4F8"/>
                </a:solidFill>
                <a:latin typeface="Cambria" pitchFamily="34" charset="0"/>
                <a:ea typeface="Cambria" pitchFamily="34" charset="-122"/>
                <a:cs typeface="Cambria" pitchFamily="34" charset="-120"/>
              </a:rPr>
              <a:t>Training Split</a:t>
            </a:r>
            <a:endParaRPr lang="en-US" sz="1300" dirty="0"/>
          </a:p>
        </p:txBody>
      </p:sp>
      <p:sp>
        <p:nvSpPr>
          <p:cNvPr id="9" name="Text 7"/>
          <p:cNvSpPr/>
          <p:nvPr/>
        </p:nvSpPr>
        <p:spPr>
          <a:xfrm>
            <a:off x="411480" y="2670048"/>
            <a:ext cx="1737360" cy="1463040"/>
          </a:xfrm>
          <a:prstGeom prst="rect">
            <a:avLst/>
          </a:prstGeom>
          <a:noFill/>
          <a:ln/>
        </p:spPr>
        <p:txBody>
          <a:bodyPr wrap="square" rtlCol="0" anchor="ctr"/>
          <a:lstStyle/>
          <a:p>
            <a:pPr indent="0" marL="0">
              <a:buNone/>
            </a:pPr>
            <a:r>
              <a:rPr lang="en-US" sz="1050" dirty="0">
                <a:solidFill>
                  <a:srgbClr val="F0F4F8"/>
                </a:solidFill>
                <a:latin typeface="Calibri" pitchFamily="34" charset="0"/>
                <a:ea typeface="Calibri" pitchFamily="34" charset="-122"/>
                <a:cs typeface="Calibri" pitchFamily="34" charset="-120"/>
              </a:rPr>
              <a:t>80% of observations (120 samples) used to train the classification model. Stratified to maintain equal species balance.</a:t>
            </a:r>
            <a:endParaRPr lang="en-US" sz="1050" dirty="0"/>
          </a:p>
        </p:txBody>
      </p:sp>
      <p:sp>
        <p:nvSpPr>
          <p:cNvPr id="10" name="Shape 8"/>
          <p:cNvSpPr/>
          <p:nvPr/>
        </p:nvSpPr>
        <p:spPr>
          <a:xfrm>
            <a:off x="2450592" y="1280160"/>
            <a:ext cx="2011680" cy="2971800"/>
          </a:xfrm>
          <a:prstGeom prst="roundRect">
            <a:avLst>
              <a:gd name="adj" fmla="val 3636"/>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11" name="Shape 9"/>
          <p:cNvSpPr/>
          <p:nvPr/>
        </p:nvSpPr>
        <p:spPr>
          <a:xfrm>
            <a:off x="3090672" y="1417320"/>
            <a:ext cx="685800" cy="685800"/>
          </a:xfrm>
          <a:prstGeom prst="roundRect">
            <a:avLst>
              <a:gd name="adj" fmla="val 16000"/>
            </a:avLst>
          </a:prstGeom>
          <a:solidFill>
            <a:srgbClr val="1A5276"/>
          </a:solidFill>
          <a:ln w="12700">
            <a:solidFill>
              <a:srgbClr val="1A5276"/>
            </a:solidFill>
            <a:prstDash val="solid"/>
          </a:ln>
        </p:spPr>
      </p:sp>
      <p:sp>
        <p:nvSpPr>
          <p:cNvPr id="12" name="Text 10"/>
          <p:cNvSpPr/>
          <p:nvPr/>
        </p:nvSpPr>
        <p:spPr>
          <a:xfrm>
            <a:off x="3090672" y="1417320"/>
            <a:ext cx="685800" cy="685800"/>
          </a:xfrm>
          <a:prstGeom prst="rect">
            <a:avLst/>
          </a:prstGeom>
          <a:noFill/>
          <a:ln/>
        </p:spPr>
        <p:txBody>
          <a:bodyPr wrap="square" rtlCol="0" anchor="ctr"/>
          <a:lstStyle/>
          <a:p>
            <a:pPr algn="ctr" indent="0" marL="0">
              <a:buNone/>
            </a:pPr>
            <a:r>
              <a:rPr lang="en-US" sz="2000" b="1" dirty="0">
                <a:solidFill>
                  <a:srgbClr val="D4AC0D"/>
                </a:solidFill>
                <a:latin typeface="Cambria" pitchFamily="34" charset="0"/>
                <a:ea typeface="Cambria" pitchFamily="34" charset="-122"/>
                <a:cs typeface="Cambria" pitchFamily="34" charset="-120"/>
              </a:rPr>
              <a:t>02</a:t>
            </a:r>
            <a:endParaRPr lang="en-US" sz="2000" dirty="0"/>
          </a:p>
        </p:txBody>
      </p:sp>
      <p:sp>
        <p:nvSpPr>
          <p:cNvPr id="13" name="Text 11"/>
          <p:cNvSpPr/>
          <p:nvPr/>
        </p:nvSpPr>
        <p:spPr>
          <a:xfrm>
            <a:off x="2587752" y="2212848"/>
            <a:ext cx="1737360" cy="411480"/>
          </a:xfrm>
          <a:prstGeom prst="rect">
            <a:avLst/>
          </a:prstGeom>
          <a:noFill/>
          <a:ln/>
        </p:spPr>
        <p:txBody>
          <a:bodyPr wrap="square" rtlCol="0" anchor="ctr"/>
          <a:lstStyle/>
          <a:p>
            <a:pPr algn="ctr" indent="0" marL="0">
              <a:buNone/>
            </a:pPr>
            <a:r>
              <a:rPr lang="en-US" sz="1300" b="1" dirty="0">
                <a:solidFill>
                  <a:srgbClr val="F0F4F8"/>
                </a:solidFill>
                <a:latin typeface="Cambria" pitchFamily="34" charset="0"/>
                <a:ea typeface="Cambria" pitchFamily="34" charset="-122"/>
                <a:cs typeface="Cambria" pitchFamily="34" charset="-120"/>
              </a:rPr>
              <a:t>Validation Protocol</a:t>
            </a:r>
            <a:endParaRPr lang="en-US" sz="1300" dirty="0"/>
          </a:p>
        </p:txBody>
      </p:sp>
      <p:sp>
        <p:nvSpPr>
          <p:cNvPr id="14" name="Text 12"/>
          <p:cNvSpPr/>
          <p:nvPr/>
        </p:nvSpPr>
        <p:spPr>
          <a:xfrm>
            <a:off x="2587752" y="2670048"/>
            <a:ext cx="1737360" cy="1463040"/>
          </a:xfrm>
          <a:prstGeom prst="rect">
            <a:avLst/>
          </a:prstGeom>
          <a:noFill/>
          <a:ln/>
        </p:spPr>
        <p:txBody>
          <a:bodyPr wrap="square" rtlCol="0" anchor="ctr"/>
          <a:lstStyle/>
          <a:p>
            <a:pPr indent="0" marL="0">
              <a:buNone/>
            </a:pPr>
            <a:r>
              <a:rPr lang="en-US" sz="1050" dirty="0">
                <a:solidFill>
                  <a:srgbClr val="F0F4F8"/>
                </a:solidFill>
                <a:latin typeface="Calibri" pitchFamily="34" charset="0"/>
                <a:ea typeface="Calibri" pitchFamily="34" charset="-122"/>
                <a:cs typeface="Calibri" pitchFamily="34" charset="-120"/>
              </a:rPr>
              <a:t>5-fold cross-validation applied across the full dataset. Each model tested on 5 held-out subsets to prevent overfit.</a:t>
            </a:r>
            <a:endParaRPr lang="en-US" sz="1050" dirty="0"/>
          </a:p>
        </p:txBody>
      </p:sp>
      <p:sp>
        <p:nvSpPr>
          <p:cNvPr id="15" name="Shape 13"/>
          <p:cNvSpPr/>
          <p:nvPr/>
        </p:nvSpPr>
        <p:spPr>
          <a:xfrm>
            <a:off x="4626864" y="1280160"/>
            <a:ext cx="2011680" cy="2971800"/>
          </a:xfrm>
          <a:prstGeom prst="roundRect">
            <a:avLst>
              <a:gd name="adj" fmla="val 3636"/>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16" name="Shape 14"/>
          <p:cNvSpPr/>
          <p:nvPr/>
        </p:nvSpPr>
        <p:spPr>
          <a:xfrm>
            <a:off x="5266944" y="1417320"/>
            <a:ext cx="685800" cy="685800"/>
          </a:xfrm>
          <a:prstGeom prst="roundRect">
            <a:avLst>
              <a:gd name="adj" fmla="val 16000"/>
            </a:avLst>
          </a:prstGeom>
          <a:solidFill>
            <a:srgbClr val="1A5276"/>
          </a:solidFill>
          <a:ln w="12700">
            <a:solidFill>
              <a:srgbClr val="1A5276"/>
            </a:solidFill>
            <a:prstDash val="solid"/>
          </a:ln>
        </p:spPr>
      </p:sp>
      <p:sp>
        <p:nvSpPr>
          <p:cNvPr id="17" name="Text 15"/>
          <p:cNvSpPr/>
          <p:nvPr/>
        </p:nvSpPr>
        <p:spPr>
          <a:xfrm>
            <a:off x="5266944" y="1417320"/>
            <a:ext cx="685800" cy="685800"/>
          </a:xfrm>
          <a:prstGeom prst="rect">
            <a:avLst/>
          </a:prstGeom>
          <a:noFill/>
          <a:ln/>
        </p:spPr>
        <p:txBody>
          <a:bodyPr wrap="square" rtlCol="0" anchor="ctr"/>
          <a:lstStyle/>
          <a:p>
            <a:pPr algn="ctr" indent="0" marL="0">
              <a:buNone/>
            </a:pPr>
            <a:r>
              <a:rPr lang="en-US" sz="2000" b="1" dirty="0">
                <a:solidFill>
                  <a:srgbClr val="D4AC0D"/>
                </a:solidFill>
                <a:latin typeface="Cambria" pitchFamily="34" charset="0"/>
                <a:ea typeface="Cambria" pitchFamily="34" charset="-122"/>
                <a:cs typeface="Cambria" pitchFamily="34" charset="-120"/>
              </a:rPr>
              <a:t>03</a:t>
            </a:r>
            <a:endParaRPr lang="en-US" sz="2000" dirty="0"/>
          </a:p>
        </p:txBody>
      </p:sp>
      <p:sp>
        <p:nvSpPr>
          <p:cNvPr id="18" name="Text 16"/>
          <p:cNvSpPr/>
          <p:nvPr/>
        </p:nvSpPr>
        <p:spPr>
          <a:xfrm>
            <a:off x="4764024" y="2212848"/>
            <a:ext cx="1737360" cy="411480"/>
          </a:xfrm>
          <a:prstGeom prst="rect">
            <a:avLst/>
          </a:prstGeom>
          <a:noFill/>
          <a:ln/>
        </p:spPr>
        <p:txBody>
          <a:bodyPr wrap="square" rtlCol="0" anchor="ctr"/>
          <a:lstStyle/>
          <a:p>
            <a:pPr algn="ctr" indent="0" marL="0">
              <a:buNone/>
            </a:pPr>
            <a:r>
              <a:rPr lang="en-US" sz="1300" b="1" dirty="0">
                <a:solidFill>
                  <a:srgbClr val="F0F4F8"/>
                </a:solidFill>
                <a:latin typeface="Cambria" pitchFamily="34" charset="0"/>
                <a:ea typeface="Cambria" pitchFamily="34" charset="-122"/>
                <a:cs typeface="Cambria" pitchFamily="34" charset="-120"/>
              </a:rPr>
              <a:t>Model Portfolio</a:t>
            </a:r>
            <a:endParaRPr lang="en-US" sz="1300" dirty="0"/>
          </a:p>
        </p:txBody>
      </p:sp>
      <p:sp>
        <p:nvSpPr>
          <p:cNvPr id="19" name="Text 17"/>
          <p:cNvSpPr/>
          <p:nvPr/>
        </p:nvSpPr>
        <p:spPr>
          <a:xfrm>
            <a:off x="4764024" y="2670048"/>
            <a:ext cx="1737360" cy="1463040"/>
          </a:xfrm>
          <a:prstGeom prst="rect">
            <a:avLst/>
          </a:prstGeom>
          <a:noFill/>
          <a:ln/>
        </p:spPr>
        <p:txBody>
          <a:bodyPr wrap="square" rtlCol="0" anchor="ctr"/>
          <a:lstStyle/>
          <a:p>
            <a:pPr indent="0" marL="0">
              <a:buNone/>
            </a:pPr>
            <a:r>
              <a:rPr lang="en-US" sz="1050" dirty="0">
                <a:solidFill>
                  <a:srgbClr val="F0F4F8"/>
                </a:solidFill>
                <a:latin typeface="Calibri" pitchFamily="34" charset="0"/>
                <a:ea typeface="Calibri" pitchFamily="34" charset="-122"/>
                <a:cs typeface="Calibri" pitchFamily="34" charset="-120"/>
              </a:rPr>
              <a:t>Four classification models evaluated: Tree-Based, Logistic, Neighbour, and Vector-Based. Best performer selected.</a:t>
            </a:r>
            <a:endParaRPr lang="en-US" sz="1050" dirty="0"/>
          </a:p>
        </p:txBody>
      </p:sp>
      <p:sp>
        <p:nvSpPr>
          <p:cNvPr id="20" name="Shape 18"/>
          <p:cNvSpPr/>
          <p:nvPr/>
        </p:nvSpPr>
        <p:spPr>
          <a:xfrm>
            <a:off x="6803136" y="1280160"/>
            <a:ext cx="2011680" cy="2971800"/>
          </a:xfrm>
          <a:prstGeom prst="roundRect">
            <a:avLst>
              <a:gd name="adj" fmla="val 3636"/>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21" name="Shape 19"/>
          <p:cNvSpPr/>
          <p:nvPr/>
        </p:nvSpPr>
        <p:spPr>
          <a:xfrm>
            <a:off x="7443216" y="1417320"/>
            <a:ext cx="685800" cy="685800"/>
          </a:xfrm>
          <a:prstGeom prst="roundRect">
            <a:avLst>
              <a:gd name="adj" fmla="val 16000"/>
            </a:avLst>
          </a:prstGeom>
          <a:solidFill>
            <a:srgbClr val="1A5276"/>
          </a:solidFill>
          <a:ln w="12700">
            <a:solidFill>
              <a:srgbClr val="1A5276"/>
            </a:solidFill>
            <a:prstDash val="solid"/>
          </a:ln>
        </p:spPr>
      </p:sp>
      <p:sp>
        <p:nvSpPr>
          <p:cNvPr id="22" name="Text 20"/>
          <p:cNvSpPr/>
          <p:nvPr/>
        </p:nvSpPr>
        <p:spPr>
          <a:xfrm>
            <a:off x="7443216" y="1417320"/>
            <a:ext cx="685800" cy="685800"/>
          </a:xfrm>
          <a:prstGeom prst="rect">
            <a:avLst/>
          </a:prstGeom>
          <a:noFill/>
          <a:ln/>
        </p:spPr>
        <p:txBody>
          <a:bodyPr wrap="square" rtlCol="0" anchor="ctr"/>
          <a:lstStyle/>
          <a:p>
            <a:pPr algn="ctr" indent="0" marL="0">
              <a:buNone/>
            </a:pPr>
            <a:r>
              <a:rPr lang="en-US" sz="2000" b="1" dirty="0">
                <a:solidFill>
                  <a:srgbClr val="D4AC0D"/>
                </a:solidFill>
                <a:latin typeface="Cambria" pitchFamily="34" charset="0"/>
                <a:ea typeface="Cambria" pitchFamily="34" charset="-122"/>
                <a:cs typeface="Cambria" pitchFamily="34" charset="-120"/>
              </a:rPr>
              <a:t>04</a:t>
            </a:r>
            <a:endParaRPr lang="en-US" sz="2000" dirty="0"/>
          </a:p>
        </p:txBody>
      </p:sp>
      <p:sp>
        <p:nvSpPr>
          <p:cNvPr id="23" name="Text 21"/>
          <p:cNvSpPr/>
          <p:nvPr/>
        </p:nvSpPr>
        <p:spPr>
          <a:xfrm>
            <a:off x="6940296" y="2212848"/>
            <a:ext cx="1737360" cy="411480"/>
          </a:xfrm>
          <a:prstGeom prst="rect">
            <a:avLst/>
          </a:prstGeom>
          <a:noFill/>
          <a:ln/>
        </p:spPr>
        <p:txBody>
          <a:bodyPr wrap="square" rtlCol="0" anchor="ctr"/>
          <a:lstStyle/>
          <a:p>
            <a:pPr algn="ctr" indent="0" marL="0">
              <a:buNone/>
            </a:pPr>
            <a:r>
              <a:rPr lang="en-US" sz="1300" b="1" dirty="0">
                <a:solidFill>
                  <a:srgbClr val="F0F4F8"/>
                </a:solidFill>
                <a:latin typeface="Cambria" pitchFamily="34" charset="0"/>
                <a:ea typeface="Cambria" pitchFamily="34" charset="-122"/>
                <a:cs typeface="Cambria" pitchFamily="34" charset="-120"/>
              </a:rPr>
              <a:t>Test Evaluation</a:t>
            </a:r>
            <a:endParaRPr lang="en-US" sz="1300" dirty="0"/>
          </a:p>
        </p:txBody>
      </p:sp>
      <p:sp>
        <p:nvSpPr>
          <p:cNvPr id="24" name="Text 22"/>
          <p:cNvSpPr/>
          <p:nvPr/>
        </p:nvSpPr>
        <p:spPr>
          <a:xfrm>
            <a:off x="6940296" y="2670048"/>
            <a:ext cx="1737360" cy="1463040"/>
          </a:xfrm>
          <a:prstGeom prst="rect">
            <a:avLst/>
          </a:prstGeom>
          <a:noFill/>
          <a:ln/>
        </p:spPr>
        <p:txBody>
          <a:bodyPr wrap="square" rtlCol="0" anchor="ctr"/>
          <a:lstStyle/>
          <a:p>
            <a:pPr indent="0" marL="0">
              <a:buNone/>
            </a:pPr>
            <a:r>
              <a:rPr lang="en-US" sz="1050" dirty="0">
                <a:solidFill>
                  <a:srgbClr val="F0F4F8"/>
                </a:solidFill>
                <a:latin typeface="Calibri" pitchFamily="34" charset="0"/>
                <a:ea typeface="Calibri" pitchFamily="34" charset="-122"/>
                <a:cs typeface="Calibri" pitchFamily="34" charset="-120"/>
              </a:rPr>
              <a:t>Final model applied to the 20% holdout set (30 unseen observations) to generate unbiased accuracy estimates.</a:t>
            </a:r>
            <a:endParaRPr lang="en-US" sz="1050" dirty="0"/>
          </a:p>
        </p:txBody>
      </p:sp>
      <p:sp>
        <p:nvSpPr>
          <p:cNvPr id="25" name="Shape 23"/>
          <p:cNvSpPr/>
          <p:nvPr/>
        </p:nvSpPr>
        <p:spPr>
          <a:xfrm>
            <a:off x="274320" y="4389120"/>
            <a:ext cx="8595360" cy="548640"/>
          </a:xfrm>
          <a:prstGeom prst="roundRect">
            <a:avLst>
              <a:gd name="adj" fmla="val 13333"/>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26" name="Text 24"/>
          <p:cNvSpPr/>
          <p:nvPr/>
        </p:nvSpPr>
        <p:spPr>
          <a:xfrm>
            <a:off x="502920" y="4425696"/>
            <a:ext cx="1463040" cy="256032"/>
          </a:xfrm>
          <a:prstGeom prst="rect">
            <a:avLst/>
          </a:prstGeom>
          <a:noFill/>
          <a:ln/>
        </p:spPr>
        <p:txBody>
          <a:bodyPr wrap="square" rtlCol="0" anchor="ctr"/>
          <a:lstStyle/>
          <a:p>
            <a:pPr algn="ctr" indent="0" marL="0">
              <a:buNone/>
            </a:pPr>
            <a:r>
              <a:rPr lang="en-US" sz="1600" b="1" dirty="0">
                <a:solidFill>
                  <a:srgbClr val="D4AC0D"/>
                </a:solidFill>
                <a:latin typeface="Cambria" pitchFamily="34" charset="0"/>
                <a:ea typeface="Cambria" pitchFamily="34" charset="-122"/>
                <a:cs typeface="Cambria" pitchFamily="34" charset="-120"/>
              </a:rPr>
              <a:t>120</a:t>
            </a:r>
            <a:endParaRPr lang="en-US" sz="1600" dirty="0"/>
          </a:p>
        </p:txBody>
      </p:sp>
      <p:sp>
        <p:nvSpPr>
          <p:cNvPr id="27" name="Text 25"/>
          <p:cNvSpPr/>
          <p:nvPr/>
        </p:nvSpPr>
        <p:spPr>
          <a:xfrm>
            <a:off x="502920" y="4663440"/>
            <a:ext cx="1463040" cy="201168"/>
          </a:xfrm>
          <a:prstGeom prst="rect">
            <a:avLst/>
          </a:prstGeom>
          <a:noFill/>
          <a:ln/>
        </p:spPr>
        <p:txBody>
          <a:bodyPr wrap="square" rtlCol="0" anchor="ctr"/>
          <a:lstStyle/>
          <a:p>
            <a:pPr algn="ctr" indent="0" marL="0">
              <a:buNone/>
            </a:pPr>
            <a:r>
              <a:rPr lang="en-US" sz="900" dirty="0">
                <a:solidFill>
                  <a:srgbClr val="8B9CB3"/>
                </a:solidFill>
                <a:latin typeface="Calibri" pitchFamily="34" charset="0"/>
                <a:ea typeface="Calibri" pitchFamily="34" charset="-122"/>
                <a:cs typeface="Calibri" pitchFamily="34" charset="-120"/>
              </a:rPr>
              <a:t>Training Samples</a:t>
            </a:r>
            <a:endParaRPr lang="en-US" sz="900" dirty="0"/>
          </a:p>
        </p:txBody>
      </p:sp>
      <p:sp>
        <p:nvSpPr>
          <p:cNvPr id="28" name="Text 26"/>
          <p:cNvSpPr/>
          <p:nvPr/>
        </p:nvSpPr>
        <p:spPr>
          <a:xfrm>
            <a:off x="2194560" y="4425696"/>
            <a:ext cx="1463040" cy="256032"/>
          </a:xfrm>
          <a:prstGeom prst="rect">
            <a:avLst/>
          </a:prstGeom>
          <a:noFill/>
          <a:ln/>
        </p:spPr>
        <p:txBody>
          <a:bodyPr wrap="square" rtlCol="0" anchor="ctr"/>
          <a:lstStyle/>
          <a:p>
            <a:pPr algn="ctr" indent="0" marL="0">
              <a:buNone/>
            </a:pPr>
            <a:r>
              <a:rPr lang="en-US" sz="1600" b="1" dirty="0">
                <a:solidFill>
                  <a:srgbClr val="D4AC0D"/>
                </a:solidFill>
                <a:latin typeface="Cambria" pitchFamily="34" charset="0"/>
                <a:ea typeface="Cambria" pitchFamily="34" charset="-122"/>
                <a:cs typeface="Cambria" pitchFamily="34" charset="-120"/>
              </a:rPr>
              <a:t>30</a:t>
            </a:r>
            <a:endParaRPr lang="en-US" sz="1600" dirty="0"/>
          </a:p>
        </p:txBody>
      </p:sp>
      <p:sp>
        <p:nvSpPr>
          <p:cNvPr id="29" name="Text 27"/>
          <p:cNvSpPr/>
          <p:nvPr/>
        </p:nvSpPr>
        <p:spPr>
          <a:xfrm>
            <a:off x="2194560" y="4663440"/>
            <a:ext cx="1463040" cy="201168"/>
          </a:xfrm>
          <a:prstGeom prst="rect">
            <a:avLst/>
          </a:prstGeom>
          <a:noFill/>
          <a:ln/>
        </p:spPr>
        <p:txBody>
          <a:bodyPr wrap="square" rtlCol="0" anchor="ctr"/>
          <a:lstStyle/>
          <a:p>
            <a:pPr algn="ctr" indent="0" marL="0">
              <a:buNone/>
            </a:pPr>
            <a:r>
              <a:rPr lang="en-US" sz="900" dirty="0">
                <a:solidFill>
                  <a:srgbClr val="8B9CB3"/>
                </a:solidFill>
                <a:latin typeface="Calibri" pitchFamily="34" charset="0"/>
                <a:ea typeface="Calibri" pitchFamily="34" charset="-122"/>
                <a:cs typeface="Calibri" pitchFamily="34" charset="-120"/>
              </a:rPr>
              <a:t>Test Samples</a:t>
            </a:r>
            <a:endParaRPr lang="en-US" sz="900" dirty="0"/>
          </a:p>
        </p:txBody>
      </p:sp>
      <p:sp>
        <p:nvSpPr>
          <p:cNvPr id="30" name="Text 28"/>
          <p:cNvSpPr/>
          <p:nvPr/>
        </p:nvSpPr>
        <p:spPr>
          <a:xfrm>
            <a:off x="3886200" y="4425696"/>
            <a:ext cx="1463040" cy="256032"/>
          </a:xfrm>
          <a:prstGeom prst="rect">
            <a:avLst/>
          </a:prstGeom>
          <a:noFill/>
          <a:ln/>
        </p:spPr>
        <p:txBody>
          <a:bodyPr wrap="square" rtlCol="0" anchor="ctr"/>
          <a:lstStyle/>
          <a:p>
            <a:pPr algn="ctr" indent="0" marL="0">
              <a:buNone/>
            </a:pPr>
            <a:r>
              <a:rPr lang="en-US" sz="1600" b="1" dirty="0">
                <a:solidFill>
                  <a:srgbClr val="D4AC0D"/>
                </a:solidFill>
                <a:latin typeface="Cambria" pitchFamily="34" charset="0"/>
                <a:ea typeface="Cambria" pitchFamily="34" charset="-122"/>
                <a:cs typeface="Cambria" pitchFamily="34" charset="-120"/>
              </a:rPr>
              <a:t>5-Fold</a:t>
            </a:r>
            <a:endParaRPr lang="en-US" sz="1600" dirty="0"/>
          </a:p>
        </p:txBody>
      </p:sp>
      <p:sp>
        <p:nvSpPr>
          <p:cNvPr id="31" name="Text 29"/>
          <p:cNvSpPr/>
          <p:nvPr/>
        </p:nvSpPr>
        <p:spPr>
          <a:xfrm>
            <a:off x="3886200" y="4663440"/>
            <a:ext cx="1463040" cy="201168"/>
          </a:xfrm>
          <a:prstGeom prst="rect">
            <a:avLst/>
          </a:prstGeom>
          <a:noFill/>
          <a:ln/>
        </p:spPr>
        <p:txBody>
          <a:bodyPr wrap="square" rtlCol="0" anchor="ctr"/>
          <a:lstStyle/>
          <a:p>
            <a:pPr algn="ctr" indent="0" marL="0">
              <a:buNone/>
            </a:pPr>
            <a:r>
              <a:rPr lang="en-US" sz="900" dirty="0">
                <a:solidFill>
                  <a:srgbClr val="8B9CB3"/>
                </a:solidFill>
                <a:latin typeface="Calibri" pitchFamily="34" charset="0"/>
                <a:ea typeface="Calibri" pitchFamily="34" charset="-122"/>
                <a:cs typeface="Calibri" pitchFamily="34" charset="-120"/>
              </a:rPr>
              <a:t>Cross-Validation</a:t>
            </a:r>
            <a:endParaRPr lang="en-US" sz="900" dirty="0"/>
          </a:p>
        </p:txBody>
      </p:sp>
      <p:sp>
        <p:nvSpPr>
          <p:cNvPr id="32" name="Text 30"/>
          <p:cNvSpPr/>
          <p:nvPr/>
        </p:nvSpPr>
        <p:spPr>
          <a:xfrm>
            <a:off x="5577840" y="4425696"/>
            <a:ext cx="1463040" cy="256032"/>
          </a:xfrm>
          <a:prstGeom prst="rect">
            <a:avLst/>
          </a:prstGeom>
          <a:noFill/>
          <a:ln/>
        </p:spPr>
        <p:txBody>
          <a:bodyPr wrap="square" rtlCol="0" anchor="ctr"/>
          <a:lstStyle/>
          <a:p>
            <a:pPr algn="ctr" indent="0" marL="0">
              <a:buNone/>
            </a:pPr>
            <a:r>
              <a:rPr lang="en-US" sz="1600" b="1" dirty="0">
                <a:solidFill>
                  <a:srgbClr val="D4AC0D"/>
                </a:solidFill>
                <a:latin typeface="Cambria" pitchFamily="34" charset="0"/>
                <a:ea typeface="Cambria" pitchFamily="34" charset="-122"/>
                <a:cs typeface="Cambria" pitchFamily="34" charset="-120"/>
              </a:rPr>
              <a:t>4</a:t>
            </a:r>
            <a:endParaRPr lang="en-US" sz="1600" dirty="0"/>
          </a:p>
        </p:txBody>
      </p:sp>
      <p:sp>
        <p:nvSpPr>
          <p:cNvPr id="33" name="Text 31"/>
          <p:cNvSpPr/>
          <p:nvPr/>
        </p:nvSpPr>
        <p:spPr>
          <a:xfrm>
            <a:off x="5577840" y="4663440"/>
            <a:ext cx="1463040" cy="201168"/>
          </a:xfrm>
          <a:prstGeom prst="rect">
            <a:avLst/>
          </a:prstGeom>
          <a:noFill/>
          <a:ln/>
        </p:spPr>
        <p:txBody>
          <a:bodyPr wrap="square" rtlCol="0" anchor="ctr"/>
          <a:lstStyle/>
          <a:p>
            <a:pPr algn="ctr" indent="0" marL="0">
              <a:buNone/>
            </a:pPr>
            <a:r>
              <a:rPr lang="en-US" sz="900" dirty="0">
                <a:solidFill>
                  <a:srgbClr val="8B9CB3"/>
                </a:solidFill>
                <a:latin typeface="Calibri" pitchFamily="34" charset="0"/>
                <a:ea typeface="Calibri" pitchFamily="34" charset="-122"/>
                <a:cs typeface="Calibri" pitchFamily="34" charset="-120"/>
              </a:rPr>
              <a:t>Models Evaluated</a:t>
            </a:r>
            <a:endParaRPr lang="en-US" sz="900" dirty="0"/>
          </a:p>
        </p:txBody>
      </p:sp>
      <p:sp>
        <p:nvSpPr>
          <p:cNvPr id="34" name="Text 32"/>
          <p:cNvSpPr/>
          <p:nvPr/>
        </p:nvSpPr>
        <p:spPr>
          <a:xfrm>
            <a:off x="7269480" y="4425696"/>
            <a:ext cx="1463040" cy="256032"/>
          </a:xfrm>
          <a:prstGeom prst="rect">
            <a:avLst/>
          </a:prstGeom>
          <a:noFill/>
          <a:ln/>
        </p:spPr>
        <p:txBody>
          <a:bodyPr wrap="square" rtlCol="0" anchor="ctr"/>
          <a:lstStyle/>
          <a:p>
            <a:pPr algn="ctr" indent="0" marL="0">
              <a:buNone/>
            </a:pPr>
            <a:r>
              <a:rPr lang="en-US" sz="1600" b="1" dirty="0">
                <a:solidFill>
                  <a:srgbClr val="D4AC0D"/>
                </a:solidFill>
                <a:latin typeface="Cambria" pitchFamily="34" charset="0"/>
                <a:ea typeface="Cambria" pitchFamily="34" charset="-122"/>
                <a:cs typeface="Cambria" pitchFamily="34" charset="-120"/>
              </a:rPr>
              <a:t>4</a:t>
            </a:r>
            <a:endParaRPr lang="en-US" sz="1600" dirty="0"/>
          </a:p>
        </p:txBody>
      </p:sp>
      <p:sp>
        <p:nvSpPr>
          <p:cNvPr id="35" name="Text 33"/>
          <p:cNvSpPr/>
          <p:nvPr/>
        </p:nvSpPr>
        <p:spPr>
          <a:xfrm>
            <a:off x="7269480" y="4663440"/>
            <a:ext cx="1463040" cy="201168"/>
          </a:xfrm>
          <a:prstGeom prst="rect">
            <a:avLst/>
          </a:prstGeom>
          <a:noFill/>
          <a:ln/>
        </p:spPr>
        <p:txBody>
          <a:bodyPr wrap="square" rtlCol="0" anchor="ctr"/>
          <a:lstStyle/>
          <a:p>
            <a:pPr algn="ctr" indent="0" marL="0">
              <a:buNone/>
            </a:pPr>
            <a:r>
              <a:rPr lang="en-US" sz="900" dirty="0">
                <a:solidFill>
                  <a:srgbClr val="8B9CB3"/>
                </a:solidFill>
                <a:latin typeface="Calibri" pitchFamily="34" charset="0"/>
                <a:ea typeface="Calibri" pitchFamily="34" charset="-122"/>
                <a:cs typeface="Calibri" pitchFamily="34" charset="-120"/>
              </a:rPr>
              <a:t>Features Used</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1A5276"/>
          </a:solidFill>
          <a:ln w="12700">
            <a:solidFill>
              <a:srgbClr val="1A5276"/>
            </a:solidFill>
            <a:prstDash val="solid"/>
          </a:ln>
        </p:spPr>
      </p:sp>
      <p:sp>
        <p:nvSpPr>
          <p:cNvPr id="3" name="Text 1"/>
          <p:cNvSpPr/>
          <p:nvPr/>
        </p:nvSpPr>
        <p:spPr>
          <a:xfrm>
            <a:off x="365760" y="36576"/>
            <a:ext cx="8412480" cy="274320"/>
          </a:xfrm>
          <a:prstGeom prst="rect">
            <a:avLst/>
          </a:prstGeom>
          <a:noFill/>
          <a:ln/>
        </p:spPr>
        <p:txBody>
          <a:bodyPr wrap="square" rtlCol="0" anchor="ctr"/>
          <a:lstStyle/>
          <a:p>
            <a:pPr indent="0" marL="0">
              <a:buNone/>
            </a:pPr>
            <a:r>
              <a:rPr lang="en-US" sz="900" b="1" spc="300" kern="0" dirty="0">
                <a:solidFill>
                  <a:srgbClr val="F0F4F8"/>
                </a:solidFill>
              </a:rPr>
              <a:t>ML CLASSIFICATION  |  SLIDE 10 OF 12</a:t>
            </a:r>
            <a:endParaRPr lang="en-US" sz="900" dirty="0"/>
          </a:p>
        </p:txBody>
      </p:sp>
      <p:sp>
        <p:nvSpPr>
          <p:cNvPr id="4" name="Text 2"/>
          <p:cNvSpPr/>
          <p:nvPr/>
        </p:nvSpPr>
        <p:spPr>
          <a:xfrm>
            <a:off x="411480" y="502920"/>
            <a:ext cx="8321040" cy="594360"/>
          </a:xfrm>
          <a:prstGeom prst="rect">
            <a:avLst/>
          </a:prstGeom>
          <a:noFill/>
          <a:ln/>
        </p:spPr>
        <p:txBody>
          <a:bodyPr wrap="square" rtlCol="0" anchor="t"/>
          <a:lstStyle/>
          <a:p>
            <a:pPr indent="0" marL="0">
              <a:buNone/>
            </a:pPr>
            <a:r>
              <a:rPr lang="en-US" sz="2600" b="1" dirty="0">
                <a:solidFill>
                  <a:srgbClr val="F0F4F8"/>
                </a:solidFill>
                <a:latin typeface="Cambria" pitchFamily="34" charset="0"/>
                <a:ea typeface="Cambria" pitchFamily="34" charset="-122"/>
                <a:cs typeface="Cambria" pitchFamily="34" charset="-120"/>
              </a:rPr>
              <a:t>Classification Model Performance &amp; Results</a:t>
            </a:r>
            <a:endParaRPr lang="en-US" sz="2600" dirty="0"/>
          </a:p>
        </p:txBody>
      </p:sp>
      <p:pic>
        <p:nvPicPr>
          <p:cNvPr id="5" name="Image 0" descr="/home/claude/charts/ml_results.png">    </p:cNvPr>
          <p:cNvPicPr>
            <a:picLocks noChangeAspect="1"/>
          </p:cNvPicPr>
          <p:nvPr/>
        </p:nvPicPr>
        <p:blipFill>
          <a:blip r:embed="rId1"/>
          <a:stretch>
            <a:fillRect/>
          </a:stretch>
        </p:blipFill>
        <p:spPr>
          <a:xfrm>
            <a:off x="320040" y="1170432"/>
            <a:ext cx="8503920" cy="3337560"/>
          </a:xfrm>
          <a:prstGeom prst="rect">
            <a:avLst/>
          </a:prstGeom>
        </p:spPr>
      </p:pic>
      <p:sp>
        <p:nvSpPr>
          <p:cNvPr id="6" name="Shape 3"/>
          <p:cNvSpPr/>
          <p:nvPr/>
        </p:nvSpPr>
        <p:spPr>
          <a:xfrm>
            <a:off x="274320" y="4617720"/>
            <a:ext cx="8595360" cy="502920"/>
          </a:xfrm>
          <a:prstGeom prst="roundRect">
            <a:avLst>
              <a:gd name="adj" fmla="val 14545"/>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7" name="Text 4"/>
          <p:cNvSpPr/>
          <p:nvPr/>
        </p:nvSpPr>
        <p:spPr>
          <a:xfrm>
            <a:off x="384048" y="4654296"/>
            <a:ext cx="8375904" cy="429768"/>
          </a:xfrm>
          <a:prstGeom prst="rect">
            <a:avLst/>
          </a:prstGeom>
          <a:noFill/>
          <a:ln/>
        </p:spPr>
        <p:txBody>
          <a:bodyPr wrap="square" rtlCol="0" anchor="ctr"/>
          <a:lstStyle/>
          <a:p>
            <a:pPr indent="0" marL="0">
              <a:buNone/>
            </a:pPr>
            <a:r>
              <a:rPr lang="en-US" sz="1000" b="1" dirty="0">
                <a:solidFill>
                  <a:srgbClr val="D4AC0D"/>
                </a:solidFill>
                <a:latin typeface="Calibri" pitchFamily="34" charset="0"/>
                <a:ea typeface="Calibri" pitchFamily="34" charset="-122"/>
                <a:cs typeface="Calibri" pitchFamily="34" charset="-120"/>
              </a:rPr>
              <a:t>▶  Business Takeaway:  </a:t>
            </a:r>
            <a:pPr indent="0" marL="0">
              <a:buNone/>
            </a:pPr>
            <a:r>
              <a:rPr lang="en-US" sz="1000" i="1" dirty="0">
                <a:solidFill>
                  <a:srgbClr val="F0F4F8"/>
                </a:solidFill>
                <a:latin typeface="Calibri" pitchFamily="34" charset="0"/>
                <a:ea typeface="Calibri" pitchFamily="34" charset="-122"/>
                <a:cs typeface="Calibri" pitchFamily="34" charset="-120"/>
              </a:rPr>
              <a:t>The best-performing model correctly identified 90% of unseen specimens with 100% accuracy on Setosa and 86–89% on the more challenging Versicolor/Virginica pair. The business implication is that automated pre-screening could eliminate ~90% of manual classification effort in the field.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1A5276"/>
          </a:solidFill>
          <a:ln w="12700">
            <a:solidFill>
              <a:srgbClr val="1A5276"/>
            </a:solidFill>
            <a:prstDash val="solid"/>
          </a:ln>
        </p:spPr>
      </p:sp>
      <p:sp>
        <p:nvSpPr>
          <p:cNvPr id="3" name="Text 1"/>
          <p:cNvSpPr/>
          <p:nvPr/>
        </p:nvSpPr>
        <p:spPr>
          <a:xfrm>
            <a:off x="365760" y="36576"/>
            <a:ext cx="8412480" cy="274320"/>
          </a:xfrm>
          <a:prstGeom prst="rect">
            <a:avLst/>
          </a:prstGeom>
          <a:noFill/>
          <a:ln/>
        </p:spPr>
        <p:txBody>
          <a:bodyPr wrap="square" rtlCol="0" anchor="ctr"/>
          <a:lstStyle/>
          <a:p>
            <a:pPr indent="0" marL="0">
              <a:buNone/>
            </a:pPr>
            <a:r>
              <a:rPr lang="en-US" sz="900" b="1" spc="300" kern="0" dirty="0">
                <a:solidFill>
                  <a:srgbClr val="F0F4F8"/>
                </a:solidFill>
              </a:rPr>
              <a:t>ML CLASSIFICATION  |  SLIDE 11 OF 12</a:t>
            </a:r>
            <a:endParaRPr lang="en-US" sz="900" dirty="0"/>
          </a:p>
        </p:txBody>
      </p:sp>
      <p:sp>
        <p:nvSpPr>
          <p:cNvPr id="4" name="Text 2"/>
          <p:cNvSpPr/>
          <p:nvPr/>
        </p:nvSpPr>
        <p:spPr>
          <a:xfrm>
            <a:off x="411480" y="502920"/>
            <a:ext cx="8321040" cy="594360"/>
          </a:xfrm>
          <a:prstGeom prst="rect">
            <a:avLst/>
          </a:prstGeom>
          <a:noFill/>
          <a:ln/>
        </p:spPr>
        <p:txBody>
          <a:bodyPr wrap="square" rtlCol="0" anchor="t"/>
          <a:lstStyle/>
          <a:p>
            <a:pPr indent="0" marL="0">
              <a:buNone/>
            </a:pPr>
            <a:r>
              <a:rPr lang="en-US" sz="2600" b="1" dirty="0">
                <a:solidFill>
                  <a:srgbClr val="F0F4F8"/>
                </a:solidFill>
                <a:latin typeface="Cambria" pitchFamily="34" charset="0"/>
                <a:ea typeface="Cambria" pitchFamily="34" charset="-122"/>
                <a:cs typeface="Cambria" pitchFamily="34" charset="-120"/>
              </a:rPr>
              <a:t>What Drives Species Classification?</a:t>
            </a:r>
            <a:endParaRPr lang="en-US" sz="2600" dirty="0"/>
          </a:p>
        </p:txBody>
      </p:sp>
      <p:sp>
        <p:nvSpPr>
          <p:cNvPr id="5" name="Text 3"/>
          <p:cNvSpPr/>
          <p:nvPr/>
        </p:nvSpPr>
        <p:spPr>
          <a:xfrm>
            <a:off x="411480" y="1078992"/>
            <a:ext cx="8229600" cy="292608"/>
          </a:xfrm>
          <a:prstGeom prst="rect">
            <a:avLst/>
          </a:prstGeom>
          <a:noFill/>
          <a:ln/>
        </p:spPr>
        <p:txBody>
          <a:bodyPr wrap="square" rtlCol="0" anchor="ctr"/>
          <a:lstStyle/>
          <a:p>
            <a:pPr indent="0" marL="0">
              <a:buNone/>
            </a:pPr>
            <a:r>
              <a:rPr lang="en-US" sz="1200" i="1" dirty="0">
                <a:solidFill>
                  <a:srgbClr val="8B9CB3"/>
                </a:solidFill>
                <a:latin typeface="Calibri" pitchFamily="34" charset="0"/>
                <a:ea typeface="Calibri" pitchFamily="34" charset="-122"/>
                <a:cs typeface="Calibri" pitchFamily="34" charset="-120"/>
              </a:rPr>
              <a:t>Model-derived feature contribution scores — independent validation of our visual analysis</a:t>
            </a:r>
            <a:endParaRPr lang="en-US" sz="1200" dirty="0"/>
          </a:p>
        </p:txBody>
      </p:sp>
      <p:pic>
        <p:nvPicPr>
          <p:cNvPr id="6" name="Image 0" descr="/home/claude/charts/feature_importance.png">    </p:cNvPr>
          <p:cNvPicPr>
            <a:picLocks noChangeAspect="1"/>
          </p:cNvPicPr>
          <p:nvPr/>
        </p:nvPicPr>
        <p:blipFill>
          <a:blip r:embed="rId1"/>
          <a:stretch>
            <a:fillRect/>
          </a:stretch>
        </p:blipFill>
        <p:spPr>
          <a:xfrm>
            <a:off x="411480" y="1417320"/>
            <a:ext cx="5303520" cy="3063240"/>
          </a:xfrm>
          <a:prstGeom prst="rect">
            <a:avLst/>
          </a:prstGeom>
        </p:spPr>
      </p:pic>
      <p:sp>
        <p:nvSpPr>
          <p:cNvPr id="7" name="Shape 4"/>
          <p:cNvSpPr/>
          <p:nvPr/>
        </p:nvSpPr>
        <p:spPr>
          <a:xfrm>
            <a:off x="5989320" y="1481328"/>
            <a:ext cx="2880360" cy="685800"/>
          </a:xfrm>
          <a:prstGeom prst="roundRect">
            <a:avLst>
              <a:gd name="adj" fmla="val 10667"/>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8" name="Text 5"/>
          <p:cNvSpPr/>
          <p:nvPr/>
        </p:nvSpPr>
        <p:spPr>
          <a:xfrm>
            <a:off x="6080760" y="1554480"/>
            <a:ext cx="640080" cy="548640"/>
          </a:xfrm>
          <a:prstGeom prst="rect">
            <a:avLst/>
          </a:prstGeom>
          <a:noFill/>
          <a:ln/>
        </p:spPr>
        <p:txBody>
          <a:bodyPr wrap="square" rtlCol="0" anchor="ctr"/>
          <a:lstStyle/>
          <a:p>
            <a:pPr indent="0" marL="0">
              <a:buNone/>
            </a:pPr>
            <a:r>
              <a:rPr lang="en-US" sz="1800" b="1" dirty="0">
                <a:solidFill>
                  <a:srgbClr val="D4AC0D"/>
                </a:solidFill>
                <a:latin typeface="Cambria" pitchFamily="34" charset="0"/>
                <a:ea typeface="Cambria" pitchFamily="34" charset="-122"/>
                <a:cs typeface="Cambria" pitchFamily="34" charset="-120"/>
              </a:rPr>
              <a:t>~44%</a:t>
            </a:r>
            <a:endParaRPr lang="en-US" sz="1800" dirty="0"/>
          </a:p>
        </p:txBody>
      </p:sp>
      <p:sp>
        <p:nvSpPr>
          <p:cNvPr id="9" name="Text 6"/>
          <p:cNvSpPr/>
          <p:nvPr/>
        </p:nvSpPr>
        <p:spPr>
          <a:xfrm>
            <a:off x="6720840" y="1536192"/>
            <a:ext cx="2057400" cy="274320"/>
          </a:xfrm>
          <a:prstGeom prst="rect">
            <a:avLst/>
          </a:prstGeom>
          <a:noFill/>
          <a:ln/>
        </p:spPr>
        <p:txBody>
          <a:bodyPr wrap="square" rtlCol="0" anchor="ctr"/>
          <a:lstStyle/>
          <a:p>
            <a:pPr indent="0" marL="0">
              <a:buNone/>
            </a:pPr>
            <a:r>
              <a:rPr lang="en-US" sz="1100" b="1" dirty="0">
                <a:solidFill>
                  <a:srgbClr val="F0F4F8"/>
                </a:solidFill>
                <a:latin typeface="Cambria" pitchFamily="34" charset="0"/>
                <a:ea typeface="Cambria" pitchFamily="34" charset="-122"/>
                <a:cs typeface="Cambria" pitchFamily="34" charset="-120"/>
              </a:rPr>
              <a:t>Petal Width</a:t>
            </a:r>
            <a:endParaRPr lang="en-US" sz="1100" dirty="0"/>
          </a:p>
        </p:txBody>
      </p:sp>
      <p:sp>
        <p:nvSpPr>
          <p:cNvPr id="10" name="Text 7"/>
          <p:cNvSpPr/>
          <p:nvPr/>
        </p:nvSpPr>
        <p:spPr>
          <a:xfrm>
            <a:off x="6720840" y="1810512"/>
            <a:ext cx="2057400" cy="310896"/>
          </a:xfrm>
          <a:prstGeom prst="rect">
            <a:avLst/>
          </a:prstGeom>
          <a:noFill/>
          <a:ln/>
        </p:spPr>
        <p:txBody>
          <a:bodyPr wrap="square" rtlCol="0" anchor="ctr"/>
          <a:lstStyle/>
          <a:p>
            <a:pPr indent="0" marL="0">
              <a:buNone/>
            </a:pPr>
            <a:r>
              <a:rPr lang="en-US" sz="900" dirty="0">
                <a:solidFill>
                  <a:srgbClr val="8B9CB3"/>
                </a:solidFill>
                <a:latin typeface="Calibri" pitchFamily="34" charset="0"/>
                <a:ea typeface="Calibri" pitchFamily="34" charset="-122"/>
                <a:cs typeface="Calibri" pitchFamily="34" charset="-120"/>
              </a:rPr>
              <a:t>Highest discriminatory power. Width cleanly separates all three species with minimal ambiguity.</a:t>
            </a:r>
            <a:endParaRPr lang="en-US" sz="900" dirty="0"/>
          </a:p>
        </p:txBody>
      </p:sp>
      <p:sp>
        <p:nvSpPr>
          <p:cNvPr id="11" name="Shape 8"/>
          <p:cNvSpPr/>
          <p:nvPr/>
        </p:nvSpPr>
        <p:spPr>
          <a:xfrm>
            <a:off x="5989320" y="2286000"/>
            <a:ext cx="2880360" cy="685800"/>
          </a:xfrm>
          <a:prstGeom prst="roundRect">
            <a:avLst>
              <a:gd name="adj" fmla="val 10667"/>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12" name="Text 9"/>
          <p:cNvSpPr/>
          <p:nvPr/>
        </p:nvSpPr>
        <p:spPr>
          <a:xfrm>
            <a:off x="6080760" y="2359152"/>
            <a:ext cx="640080" cy="548640"/>
          </a:xfrm>
          <a:prstGeom prst="rect">
            <a:avLst/>
          </a:prstGeom>
          <a:noFill/>
          <a:ln/>
        </p:spPr>
        <p:txBody>
          <a:bodyPr wrap="square" rtlCol="0" anchor="ctr"/>
          <a:lstStyle/>
          <a:p>
            <a:pPr indent="0" marL="0">
              <a:buNone/>
            </a:pPr>
            <a:r>
              <a:rPr lang="en-US" sz="1800" b="1" dirty="0">
                <a:solidFill>
                  <a:srgbClr val="D4AC0D"/>
                </a:solidFill>
                <a:latin typeface="Cambria" pitchFamily="34" charset="0"/>
                <a:ea typeface="Cambria" pitchFamily="34" charset="-122"/>
                <a:cs typeface="Cambria" pitchFamily="34" charset="-120"/>
              </a:rPr>
              <a:t>~42%</a:t>
            </a:r>
            <a:endParaRPr lang="en-US" sz="1800" dirty="0"/>
          </a:p>
        </p:txBody>
      </p:sp>
      <p:sp>
        <p:nvSpPr>
          <p:cNvPr id="13" name="Text 10"/>
          <p:cNvSpPr/>
          <p:nvPr/>
        </p:nvSpPr>
        <p:spPr>
          <a:xfrm>
            <a:off x="6720840" y="2340864"/>
            <a:ext cx="2057400" cy="274320"/>
          </a:xfrm>
          <a:prstGeom prst="rect">
            <a:avLst/>
          </a:prstGeom>
          <a:noFill/>
          <a:ln/>
        </p:spPr>
        <p:txBody>
          <a:bodyPr wrap="square" rtlCol="0" anchor="ctr"/>
          <a:lstStyle/>
          <a:p>
            <a:pPr indent="0" marL="0">
              <a:buNone/>
            </a:pPr>
            <a:r>
              <a:rPr lang="en-US" sz="1100" b="1" dirty="0">
                <a:solidFill>
                  <a:srgbClr val="F0F4F8"/>
                </a:solidFill>
                <a:latin typeface="Cambria" pitchFamily="34" charset="0"/>
                <a:ea typeface="Cambria" pitchFamily="34" charset="-122"/>
                <a:cs typeface="Cambria" pitchFamily="34" charset="-120"/>
              </a:rPr>
              <a:t>Petal Length</a:t>
            </a:r>
            <a:endParaRPr lang="en-US" sz="1100" dirty="0"/>
          </a:p>
        </p:txBody>
      </p:sp>
      <p:sp>
        <p:nvSpPr>
          <p:cNvPr id="14" name="Text 11"/>
          <p:cNvSpPr/>
          <p:nvPr/>
        </p:nvSpPr>
        <p:spPr>
          <a:xfrm>
            <a:off x="6720840" y="2615184"/>
            <a:ext cx="2057400" cy="310896"/>
          </a:xfrm>
          <a:prstGeom prst="rect">
            <a:avLst/>
          </a:prstGeom>
          <a:noFill/>
          <a:ln/>
        </p:spPr>
        <p:txBody>
          <a:bodyPr wrap="square" rtlCol="0" anchor="ctr"/>
          <a:lstStyle/>
          <a:p>
            <a:pPr indent="0" marL="0">
              <a:buNone/>
            </a:pPr>
            <a:r>
              <a:rPr lang="en-US" sz="900" dirty="0">
                <a:solidFill>
                  <a:srgbClr val="8B9CB3"/>
                </a:solidFill>
                <a:latin typeface="Calibri" pitchFamily="34" charset="0"/>
                <a:ea typeface="Calibri" pitchFamily="34" charset="-122"/>
                <a:cs typeface="Calibri" pitchFamily="34" charset="-120"/>
              </a:rPr>
              <a:t>Second-highest importance. Combined with Petal Width, these two features account for ~86% of classification power.</a:t>
            </a:r>
            <a:endParaRPr lang="en-US" sz="900" dirty="0"/>
          </a:p>
        </p:txBody>
      </p:sp>
      <p:sp>
        <p:nvSpPr>
          <p:cNvPr id="15" name="Shape 12"/>
          <p:cNvSpPr/>
          <p:nvPr/>
        </p:nvSpPr>
        <p:spPr>
          <a:xfrm>
            <a:off x="5989320" y="3090672"/>
            <a:ext cx="2880360" cy="685800"/>
          </a:xfrm>
          <a:prstGeom prst="roundRect">
            <a:avLst>
              <a:gd name="adj" fmla="val 10667"/>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16" name="Text 13"/>
          <p:cNvSpPr/>
          <p:nvPr/>
        </p:nvSpPr>
        <p:spPr>
          <a:xfrm>
            <a:off x="6080760" y="3163824"/>
            <a:ext cx="640080" cy="548640"/>
          </a:xfrm>
          <a:prstGeom prst="rect">
            <a:avLst/>
          </a:prstGeom>
          <a:noFill/>
          <a:ln/>
        </p:spPr>
        <p:txBody>
          <a:bodyPr wrap="square" rtlCol="0" anchor="ctr"/>
          <a:lstStyle/>
          <a:p>
            <a:pPr indent="0" marL="0">
              <a:buNone/>
            </a:pPr>
            <a:r>
              <a:rPr lang="en-US" sz="1800" b="1" dirty="0">
                <a:solidFill>
                  <a:srgbClr val="D4AC0D"/>
                </a:solidFill>
                <a:latin typeface="Cambria" pitchFamily="34" charset="0"/>
                <a:ea typeface="Cambria" pitchFamily="34" charset="-122"/>
                <a:cs typeface="Cambria" pitchFamily="34" charset="-120"/>
              </a:rPr>
              <a:t>~10%</a:t>
            </a:r>
            <a:endParaRPr lang="en-US" sz="1800" dirty="0"/>
          </a:p>
        </p:txBody>
      </p:sp>
      <p:sp>
        <p:nvSpPr>
          <p:cNvPr id="17" name="Text 14"/>
          <p:cNvSpPr/>
          <p:nvPr/>
        </p:nvSpPr>
        <p:spPr>
          <a:xfrm>
            <a:off x="6720840" y="3145536"/>
            <a:ext cx="2057400" cy="274320"/>
          </a:xfrm>
          <a:prstGeom prst="rect">
            <a:avLst/>
          </a:prstGeom>
          <a:noFill/>
          <a:ln/>
        </p:spPr>
        <p:txBody>
          <a:bodyPr wrap="square" rtlCol="0" anchor="ctr"/>
          <a:lstStyle/>
          <a:p>
            <a:pPr indent="0" marL="0">
              <a:buNone/>
            </a:pPr>
            <a:r>
              <a:rPr lang="en-US" sz="1100" b="1" dirty="0">
                <a:solidFill>
                  <a:srgbClr val="F0F4F8"/>
                </a:solidFill>
                <a:latin typeface="Cambria" pitchFamily="34" charset="0"/>
                <a:ea typeface="Cambria" pitchFamily="34" charset="-122"/>
                <a:cs typeface="Cambria" pitchFamily="34" charset="-120"/>
              </a:rPr>
              <a:t>Sepal Length</a:t>
            </a:r>
            <a:endParaRPr lang="en-US" sz="1100" dirty="0"/>
          </a:p>
        </p:txBody>
      </p:sp>
      <p:sp>
        <p:nvSpPr>
          <p:cNvPr id="18" name="Text 15"/>
          <p:cNvSpPr/>
          <p:nvPr/>
        </p:nvSpPr>
        <p:spPr>
          <a:xfrm>
            <a:off x="6720840" y="3419856"/>
            <a:ext cx="2057400" cy="310896"/>
          </a:xfrm>
          <a:prstGeom prst="rect">
            <a:avLst/>
          </a:prstGeom>
          <a:noFill/>
          <a:ln/>
        </p:spPr>
        <p:txBody>
          <a:bodyPr wrap="square" rtlCol="0" anchor="ctr"/>
          <a:lstStyle/>
          <a:p>
            <a:pPr indent="0" marL="0">
              <a:buNone/>
            </a:pPr>
            <a:r>
              <a:rPr lang="en-US" sz="900" dirty="0">
                <a:solidFill>
                  <a:srgbClr val="8B9CB3"/>
                </a:solidFill>
                <a:latin typeface="Calibri" pitchFamily="34" charset="0"/>
                <a:ea typeface="Calibri" pitchFamily="34" charset="-122"/>
                <a:cs typeface="Calibri" pitchFamily="34" charset="-120"/>
              </a:rPr>
              <a:t>Marginal contribution. Useful as a tiebreaker in edge cases, not a standalone identifier.</a:t>
            </a:r>
            <a:endParaRPr lang="en-US" sz="900" dirty="0"/>
          </a:p>
        </p:txBody>
      </p:sp>
      <p:sp>
        <p:nvSpPr>
          <p:cNvPr id="19" name="Shape 16"/>
          <p:cNvSpPr/>
          <p:nvPr/>
        </p:nvSpPr>
        <p:spPr>
          <a:xfrm>
            <a:off x="5989320" y="3895344"/>
            <a:ext cx="2880360" cy="685800"/>
          </a:xfrm>
          <a:prstGeom prst="roundRect">
            <a:avLst>
              <a:gd name="adj" fmla="val 10667"/>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20" name="Text 17"/>
          <p:cNvSpPr/>
          <p:nvPr/>
        </p:nvSpPr>
        <p:spPr>
          <a:xfrm>
            <a:off x="6080760" y="3968496"/>
            <a:ext cx="640080" cy="548640"/>
          </a:xfrm>
          <a:prstGeom prst="rect">
            <a:avLst/>
          </a:prstGeom>
          <a:noFill/>
          <a:ln/>
        </p:spPr>
        <p:txBody>
          <a:bodyPr wrap="square" rtlCol="0" anchor="ctr"/>
          <a:lstStyle/>
          <a:p>
            <a:pPr indent="0" marL="0">
              <a:buNone/>
            </a:pPr>
            <a:r>
              <a:rPr lang="en-US" sz="1800" b="1" dirty="0">
                <a:solidFill>
                  <a:srgbClr val="D4AC0D"/>
                </a:solidFill>
                <a:latin typeface="Cambria" pitchFamily="34" charset="0"/>
                <a:ea typeface="Cambria" pitchFamily="34" charset="-122"/>
                <a:cs typeface="Cambria" pitchFamily="34" charset="-120"/>
              </a:rPr>
              <a:t>~4%</a:t>
            </a:r>
            <a:endParaRPr lang="en-US" sz="1800" dirty="0"/>
          </a:p>
        </p:txBody>
      </p:sp>
      <p:sp>
        <p:nvSpPr>
          <p:cNvPr id="21" name="Text 18"/>
          <p:cNvSpPr/>
          <p:nvPr/>
        </p:nvSpPr>
        <p:spPr>
          <a:xfrm>
            <a:off x="6720840" y="3950208"/>
            <a:ext cx="2057400" cy="274320"/>
          </a:xfrm>
          <a:prstGeom prst="rect">
            <a:avLst/>
          </a:prstGeom>
          <a:noFill/>
          <a:ln/>
        </p:spPr>
        <p:txBody>
          <a:bodyPr wrap="square" rtlCol="0" anchor="ctr"/>
          <a:lstStyle/>
          <a:p>
            <a:pPr indent="0" marL="0">
              <a:buNone/>
            </a:pPr>
            <a:r>
              <a:rPr lang="en-US" sz="1100" b="1" dirty="0">
                <a:solidFill>
                  <a:srgbClr val="F0F4F8"/>
                </a:solidFill>
                <a:latin typeface="Cambria" pitchFamily="34" charset="0"/>
                <a:ea typeface="Cambria" pitchFamily="34" charset="-122"/>
                <a:cs typeface="Cambria" pitchFamily="34" charset="-120"/>
              </a:rPr>
              <a:t>Sepal Width</a:t>
            </a:r>
            <a:endParaRPr lang="en-US" sz="1100" dirty="0"/>
          </a:p>
        </p:txBody>
      </p:sp>
      <p:sp>
        <p:nvSpPr>
          <p:cNvPr id="22" name="Text 19"/>
          <p:cNvSpPr/>
          <p:nvPr/>
        </p:nvSpPr>
        <p:spPr>
          <a:xfrm>
            <a:off x="6720840" y="4224528"/>
            <a:ext cx="2057400" cy="310896"/>
          </a:xfrm>
          <a:prstGeom prst="rect">
            <a:avLst/>
          </a:prstGeom>
          <a:noFill/>
          <a:ln/>
        </p:spPr>
        <p:txBody>
          <a:bodyPr wrap="square" rtlCol="0" anchor="ctr"/>
          <a:lstStyle/>
          <a:p>
            <a:pPr indent="0" marL="0">
              <a:buNone/>
            </a:pPr>
            <a:r>
              <a:rPr lang="en-US" sz="900" dirty="0">
                <a:solidFill>
                  <a:srgbClr val="8B9CB3"/>
                </a:solidFill>
                <a:latin typeface="Calibri" pitchFamily="34" charset="0"/>
                <a:ea typeface="Calibri" pitchFamily="34" charset="-122"/>
                <a:cs typeface="Calibri" pitchFamily="34" charset="-120"/>
              </a:rPr>
              <a:t>Lowest importance — confirms our visual analysis that sepal width overlaps too heavily across species.</a:t>
            </a:r>
            <a:endParaRPr lang="en-US" sz="900" dirty="0"/>
          </a:p>
        </p:txBody>
      </p:sp>
      <p:sp>
        <p:nvSpPr>
          <p:cNvPr id="23" name="Shape 20"/>
          <p:cNvSpPr/>
          <p:nvPr/>
        </p:nvSpPr>
        <p:spPr>
          <a:xfrm>
            <a:off x="274320" y="4636008"/>
            <a:ext cx="8595360" cy="502920"/>
          </a:xfrm>
          <a:prstGeom prst="roundRect">
            <a:avLst>
              <a:gd name="adj" fmla="val 14545"/>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24" name="Text 21"/>
          <p:cNvSpPr/>
          <p:nvPr/>
        </p:nvSpPr>
        <p:spPr>
          <a:xfrm>
            <a:off x="384048" y="4672584"/>
            <a:ext cx="8375904" cy="429768"/>
          </a:xfrm>
          <a:prstGeom prst="rect">
            <a:avLst/>
          </a:prstGeom>
          <a:noFill/>
          <a:ln/>
        </p:spPr>
        <p:txBody>
          <a:bodyPr wrap="square" rtlCol="0" anchor="ctr"/>
          <a:lstStyle/>
          <a:p>
            <a:pPr indent="0" marL="0">
              <a:buNone/>
            </a:pPr>
            <a:r>
              <a:rPr lang="en-US" sz="1000" b="1" dirty="0">
                <a:solidFill>
                  <a:srgbClr val="D4AC0D"/>
                </a:solidFill>
                <a:latin typeface="Calibri" pitchFamily="34" charset="0"/>
                <a:ea typeface="Calibri" pitchFamily="34" charset="-122"/>
                <a:cs typeface="Calibri" pitchFamily="34" charset="-120"/>
              </a:rPr>
              <a:t>▶  Business Takeaway:  </a:t>
            </a:r>
            <a:pPr indent="0" marL="0">
              <a:buNone/>
            </a:pPr>
            <a:r>
              <a:rPr lang="en-US" sz="1000" i="1" dirty="0">
                <a:solidFill>
                  <a:srgbClr val="F0F4F8"/>
                </a:solidFill>
                <a:latin typeface="Calibri" pitchFamily="34" charset="0"/>
                <a:ea typeface="Calibri" pitchFamily="34" charset="-122"/>
                <a:cs typeface="Calibri" pitchFamily="34" charset="-120"/>
              </a:rPr>
              <a:t>This suggests that a field researcher measuring only petal dimensions captures 86% of the model's classification power — making a two-measurement field protocol both practical and statistically sound.</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1A5276"/>
          </a:solidFill>
          <a:ln w="12700">
            <a:solidFill>
              <a:srgbClr val="1A5276"/>
            </a:solidFill>
            <a:prstDash val="solid"/>
          </a:ln>
        </p:spPr>
      </p:sp>
      <p:sp>
        <p:nvSpPr>
          <p:cNvPr id="3" name="Text 1"/>
          <p:cNvSpPr/>
          <p:nvPr/>
        </p:nvSpPr>
        <p:spPr>
          <a:xfrm>
            <a:off x="365760" y="36576"/>
            <a:ext cx="8412480" cy="274320"/>
          </a:xfrm>
          <a:prstGeom prst="rect">
            <a:avLst/>
          </a:prstGeom>
          <a:noFill/>
          <a:ln/>
        </p:spPr>
        <p:txBody>
          <a:bodyPr wrap="square" rtlCol="0" anchor="ctr"/>
          <a:lstStyle/>
          <a:p>
            <a:pPr indent="0" marL="0">
              <a:buNone/>
            </a:pPr>
            <a:r>
              <a:rPr lang="en-US" sz="900" b="1" spc="300" kern="0" dirty="0">
                <a:solidFill>
                  <a:srgbClr val="F0F4F8"/>
                </a:solidFill>
              </a:rPr>
              <a:t>FINAL RECOMMENDATION  |  SLIDE 12 OF 12</a:t>
            </a:r>
            <a:endParaRPr lang="en-US" sz="900" dirty="0"/>
          </a:p>
        </p:txBody>
      </p:sp>
      <p:sp>
        <p:nvSpPr>
          <p:cNvPr id="4" name="Text 2"/>
          <p:cNvSpPr/>
          <p:nvPr/>
        </p:nvSpPr>
        <p:spPr>
          <a:xfrm>
            <a:off x="411480" y="502920"/>
            <a:ext cx="6858000" cy="594360"/>
          </a:xfrm>
          <a:prstGeom prst="rect">
            <a:avLst/>
          </a:prstGeom>
          <a:noFill/>
          <a:ln/>
        </p:spPr>
        <p:txBody>
          <a:bodyPr wrap="square" rtlCol="0" anchor="t"/>
          <a:lstStyle/>
          <a:p>
            <a:pPr indent="0" marL="0">
              <a:buNone/>
            </a:pPr>
            <a:r>
              <a:rPr lang="en-US" sz="2800" b="1" dirty="0">
                <a:solidFill>
                  <a:srgbClr val="F0F4F8"/>
                </a:solidFill>
                <a:latin typeface="Cambria" pitchFamily="34" charset="0"/>
                <a:ea typeface="Cambria" pitchFamily="34" charset="-122"/>
                <a:cs typeface="Cambria" pitchFamily="34" charset="-120"/>
              </a:rPr>
              <a:t>Species Identification Rulebook</a:t>
            </a:r>
            <a:endParaRPr lang="en-US" sz="2800" dirty="0"/>
          </a:p>
        </p:txBody>
      </p:sp>
      <p:sp>
        <p:nvSpPr>
          <p:cNvPr id="5" name="Shape 3"/>
          <p:cNvSpPr/>
          <p:nvPr/>
        </p:nvSpPr>
        <p:spPr>
          <a:xfrm>
            <a:off x="7269480" y="502920"/>
            <a:ext cx="1463040" cy="256032"/>
          </a:xfrm>
          <a:prstGeom prst="roundRect">
            <a:avLst>
              <a:gd name="adj" fmla="val 17857"/>
            </a:avLst>
          </a:prstGeom>
          <a:solidFill>
            <a:srgbClr val="D4AC0D"/>
          </a:solidFill>
          <a:ln w="12700">
            <a:solidFill>
              <a:srgbClr val="D4AC0D"/>
            </a:solidFill>
            <a:prstDash val="solid"/>
          </a:ln>
        </p:spPr>
      </p:sp>
      <p:sp>
        <p:nvSpPr>
          <p:cNvPr id="6" name="Text 4"/>
          <p:cNvSpPr/>
          <p:nvPr/>
        </p:nvSpPr>
        <p:spPr>
          <a:xfrm>
            <a:off x="7269480" y="502920"/>
            <a:ext cx="1463040" cy="256032"/>
          </a:xfrm>
          <a:prstGeom prst="rect">
            <a:avLst/>
          </a:prstGeom>
          <a:noFill/>
          <a:ln/>
        </p:spPr>
        <p:txBody>
          <a:bodyPr wrap="square" rtlCol="0" anchor="ctr"/>
          <a:lstStyle/>
          <a:p>
            <a:pPr algn="ctr" indent="0" marL="0">
              <a:buNone/>
            </a:pPr>
            <a:r>
              <a:rPr lang="en-US" sz="800" b="1" dirty="0">
                <a:solidFill>
                  <a:srgbClr val="0D1117"/>
                </a:solidFill>
              </a:rPr>
              <a:t>KEY DELIVERABLE</a:t>
            </a:r>
            <a:endParaRPr lang="en-US" sz="800" dirty="0"/>
          </a:p>
        </p:txBody>
      </p:sp>
      <p:sp>
        <p:nvSpPr>
          <p:cNvPr id="7" name="Text 5"/>
          <p:cNvSpPr/>
          <p:nvPr/>
        </p:nvSpPr>
        <p:spPr>
          <a:xfrm>
            <a:off x="411480" y="1078992"/>
            <a:ext cx="8321040" cy="292608"/>
          </a:xfrm>
          <a:prstGeom prst="rect">
            <a:avLst/>
          </a:prstGeom>
          <a:noFill/>
          <a:ln/>
        </p:spPr>
        <p:txBody>
          <a:bodyPr wrap="square" rtlCol="0" anchor="ctr"/>
          <a:lstStyle/>
          <a:p>
            <a:pPr indent="0" marL="0">
              <a:buNone/>
            </a:pPr>
            <a:r>
              <a:rPr lang="en-US" sz="1200" i="1" dirty="0">
                <a:solidFill>
                  <a:srgbClr val="8B9CB3"/>
                </a:solidFill>
                <a:latin typeface="Calibri" pitchFamily="34" charset="0"/>
                <a:ea typeface="Calibri" pitchFamily="34" charset="-122"/>
                <a:cs typeface="Calibri" pitchFamily="34" charset="-120"/>
              </a:rPr>
              <a:t>3 data-validated rules for manual field classification — no equipment beyond a ruler required</a:t>
            </a:r>
            <a:endParaRPr lang="en-US" sz="1200" dirty="0"/>
          </a:p>
        </p:txBody>
      </p:sp>
      <p:sp>
        <p:nvSpPr>
          <p:cNvPr id="8" name="Shape 6"/>
          <p:cNvSpPr/>
          <p:nvPr/>
        </p:nvSpPr>
        <p:spPr>
          <a:xfrm>
            <a:off x="274320" y="1481328"/>
            <a:ext cx="2788920" cy="3017520"/>
          </a:xfrm>
          <a:prstGeom prst="roundRect">
            <a:avLst>
              <a:gd name="adj" fmla="val 2623"/>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9" name="Shape 7"/>
          <p:cNvSpPr/>
          <p:nvPr/>
        </p:nvSpPr>
        <p:spPr>
          <a:xfrm>
            <a:off x="320040" y="1481328"/>
            <a:ext cx="2697480" cy="502920"/>
          </a:xfrm>
          <a:prstGeom prst="roundRect">
            <a:avLst>
              <a:gd name="adj" fmla="val 14545"/>
            </a:avLst>
          </a:prstGeom>
          <a:solidFill>
            <a:srgbClr val="2E86C1"/>
          </a:solidFill>
          <a:ln w="12700">
            <a:solidFill>
              <a:srgbClr val="2E86C1"/>
            </a:solidFill>
            <a:prstDash val="solid"/>
          </a:ln>
        </p:spPr>
      </p:sp>
      <p:sp>
        <p:nvSpPr>
          <p:cNvPr id="10" name="Text 8"/>
          <p:cNvSpPr/>
          <p:nvPr/>
        </p:nvSpPr>
        <p:spPr>
          <a:xfrm>
            <a:off x="365760" y="1499616"/>
            <a:ext cx="2606040" cy="411480"/>
          </a:xfrm>
          <a:prstGeom prst="rect">
            <a:avLst/>
          </a:prstGeom>
          <a:noFill/>
          <a:ln/>
        </p:spPr>
        <p:txBody>
          <a:bodyPr wrap="square" rtlCol="0" anchor="ctr"/>
          <a:lstStyle/>
          <a:p>
            <a:pPr indent="0" marL="0">
              <a:buNone/>
            </a:pPr>
            <a:r>
              <a:rPr lang="en-US" sz="1200" b="1" dirty="0">
                <a:solidFill>
                  <a:srgbClr val="F0F4F8"/>
                </a:solidFill>
                <a:latin typeface="Cambria" pitchFamily="34" charset="0"/>
                <a:ea typeface="Cambria" pitchFamily="34" charset="-122"/>
                <a:cs typeface="Cambria" pitchFamily="34" charset="-120"/>
              </a:rPr>
              <a:t>Rule 1  ·  Iris Setosa</a:t>
            </a:r>
            <a:endParaRPr lang="en-US" sz="1200" dirty="0"/>
          </a:p>
        </p:txBody>
      </p:sp>
      <p:sp>
        <p:nvSpPr>
          <p:cNvPr id="11" name="Text 9"/>
          <p:cNvSpPr/>
          <p:nvPr/>
        </p:nvSpPr>
        <p:spPr>
          <a:xfrm>
            <a:off x="384048" y="2066544"/>
            <a:ext cx="2578608" cy="347472"/>
          </a:xfrm>
          <a:prstGeom prst="rect">
            <a:avLst/>
          </a:prstGeom>
          <a:noFill/>
          <a:ln/>
        </p:spPr>
        <p:txBody>
          <a:bodyPr wrap="square" rtlCol="0" anchor="ctr"/>
          <a:lstStyle/>
          <a:p>
            <a:pPr indent="0" marL="0">
              <a:buNone/>
            </a:pPr>
            <a:r>
              <a:rPr lang="en-US" sz="1400" b="1" dirty="0">
                <a:solidFill>
                  <a:srgbClr val="D4AC0D"/>
                </a:solidFill>
                <a:latin typeface="Cambria" pitchFamily="34" charset="0"/>
                <a:ea typeface="Cambria" pitchFamily="34" charset="-122"/>
                <a:cs typeface="Cambria" pitchFamily="34" charset="-120"/>
              </a:rPr>
              <a:t>Petal Length &lt; 2.5 cm</a:t>
            </a:r>
            <a:endParaRPr lang="en-US" sz="1400" dirty="0"/>
          </a:p>
        </p:txBody>
      </p:sp>
      <p:sp>
        <p:nvSpPr>
          <p:cNvPr id="12" name="Text 10"/>
          <p:cNvSpPr/>
          <p:nvPr/>
        </p:nvSpPr>
        <p:spPr>
          <a:xfrm>
            <a:off x="384048" y="2395728"/>
            <a:ext cx="2578608" cy="256032"/>
          </a:xfrm>
          <a:prstGeom prst="rect">
            <a:avLst/>
          </a:prstGeom>
          <a:noFill/>
          <a:ln/>
        </p:spPr>
        <p:txBody>
          <a:bodyPr wrap="square" rtlCol="0" anchor="ctr"/>
          <a:lstStyle/>
          <a:p>
            <a:pPr indent="0" marL="0">
              <a:buNone/>
            </a:pPr>
            <a:r>
              <a:rPr lang="en-US" sz="1000" i="1" dirty="0">
                <a:solidFill>
                  <a:srgbClr val="8B9CB3"/>
                </a:solidFill>
                <a:latin typeface="Calibri" pitchFamily="34" charset="0"/>
                <a:ea typeface="Calibri" pitchFamily="34" charset="-122"/>
                <a:cs typeface="Calibri" pitchFamily="34" charset="-120"/>
              </a:rPr>
              <a:t>(confirm: Petal Width &lt; 0.6 cm)</a:t>
            </a:r>
            <a:endParaRPr lang="en-US" sz="1000" dirty="0"/>
          </a:p>
        </p:txBody>
      </p:sp>
      <p:sp>
        <p:nvSpPr>
          <p:cNvPr id="13" name="Shape 11"/>
          <p:cNvSpPr/>
          <p:nvPr/>
        </p:nvSpPr>
        <p:spPr>
          <a:xfrm>
            <a:off x="384048" y="2688336"/>
            <a:ext cx="1417320" cy="246888"/>
          </a:xfrm>
          <a:prstGeom prst="roundRect">
            <a:avLst>
              <a:gd name="adj" fmla="val 14815"/>
            </a:avLst>
          </a:prstGeom>
          <a:solidFill>
            <a:srgbClr val="1A5276"/>
          </a:solidFill>
          <a:ln w="12700">
            <a:solidFill>
              <a:srgbClr val="1A5276"/>
            </a:solidFill>
            <a:prstDash val="solid"/>
          </a:ln>
        </p:spPr>
      </p:sp>
      <p:sp>
        <p:nvSpPr>
          <p:cNvPr id="14" name="Text 12"/>
          <p:cNvSpPr/>
          <p:nvPr/>
        </p:nvSpPr>
        <p:spPr>
          <a:xfrm>
            <a:off x="384048" y="2688336"/>
            <a:ext cx="1417320" cy="246888"/>
          </a:xfrm>
          <a:prstGeom prst="rect">
            <a:avLst/>
          </a:prstGeom>
          <a:noFill/>
          <a:ln/>
        </p:spPr>
        <p:txBody>
          <a:bodyPr wrap="square" rtlCol="0" anchor="ctr"/>
          <a:lstStyle/>
          <a:p>
            <a:pPr algn="ctr" indent="0" marL="0">
              <a:buNone/>
            </a:pPr>
            <a:r>
              <a:rPr lang="en-US" sz="900" b="1" dirty="0">
                <a:solidFill>
                  <a:srgbClr val="27AE60"/>
                </a:solidFill>
                <a:latin typeface="Calibri" pitchFamily="34" charset="0"/>
                <a:ea typeface="Calibri" pitchFamily="34" charset="-122"/>
                <a:cs typeface="Calibri" pitchFamily="34" charset="-120"/>
              </a:rPr>
              <a:t>100% Accuracy</a:t>
            </a:r>
            <a:endParaRPr lang="en-US" sz="900" dirty="0"/>
          </a:p>
        </p:txBody>
      </p:sp>
      <p:sp>
        <p:nvSpPr>
          <p:cNvPr id="15" name="Text 13"/>
          <p:cNvSpPr/>
          <p:nvPr/>
        </p:nvSpPr>
        <p:spPr>
          <a:xfrm>
            <a:off x="384048" y="2990088"/>
            <a:ext cx="2578608" cy="1005840"/>
          </a:xfrm>
          <a:prstGeom prst="rect">
            <a:avLst/>
          </a:prstGeom>
          <a:noFill/>
          <a:ln/>
        </p:spPr>
        <p:txBody>
          <a:bodyPr wrap="square" rtlCol="0" anchor="ctr"/>
          <a:lstStyle/>
          <a:p>
            <a:pPr indent="0" marL="0">
              <a:buNone/>
            </a:pPr>
            <a:r>
              <a:rPr lang="en-US" sz="950" dirty="0">
                <a:solidFill>
                  <a:srgbClr val="F0F4F8"/>
                </a:solidFill>
                <a:latin typeface="Calibri" pitchFamily="34" charset="0"/>
                <a:ea typeface="Calibri" pitchFamily="34" charset="-122"/>
                <a:cs typeface="Calibri" pitchFamily="34" charset="-120"/>
              </a:rPr>
              <a:t>Setosa exhibits the smallest and most tightly clustered petals in the dataset. No overlap with other species was detected across all 50 observations. This rule alone identifies Setosa with zero error.</a:t>
            </a:r>
            <a:endParaRPr lang="en-US" sz="950" dirty="0"/>
          </a:p>
        </p:txBody>
      </p:sp>
      <p:sp>
        <p:nvSpPr>
          <p:cNvPr id="16" name="Text 14"/>
          <p:cNvSpPr/>
          <p:nvPr/>
        </p:nvSpPr>
        <p:spPr>
          <a:xfrm>
            <a:off x="384048" y="4005072"/>
            <a:ext cx="2578608" cy="384048"/>
          </a:xfrm>
          <a:prstGeom prst="rect">
            <a:avLst/>
          </a:prstGeom>
          <a:noFill/>
          <a:ln/>
        </p:spPr>
        <p:txBody>
          <a:bodyPr wrap="square" rtlCol="0" anchor="ctr"/>
          <a:lstStyle/>
          <a:p>
            <a:pPr indent="0" marL="0">
              <a:buNone/>
            </a:pPr>
            <a:r>
              <a:rPr lang="en-US" sz="900" b="1" i="1" dirty="0">
                <a:solidFill>
                  <a:srgbClr val="D4AC0D"/>
                </a:solidFill>
                <a:latin typeface="Calibri" pitchFamily="34" charset="0"/>
                <a:ea typeface="Calibri" pitchFamily="34" charset="-122"/>
                <a:cs typeface="Calibri" pitchFamily="34" charset="-120"/>
              </a:rPr>
              <a:t>→ Tag as Setosa. No further measurement needed.</a:t>
            </a:r>
            <a:endParaRPr lang="en-US" sz="900" dirty="0"/>
          </a:p>
        </p:txBody>
      </p:sp>
      <p:sp>
        <p:nvSpPr>
          <p:cNvPr id="17" name="Shape 15"/>
          <p:cNvSpPr/>
          <p:nvPr/>
        </p:nvSpPr>
        <p:spPr>
          <a:xfrm>
            <a:off x="3218688" y="1481328"/>
            <a:ext cx="2788920" cy="3017520"/>
          </a:xfrm>
          <a:prstGeom prst="roundRect">
            <a:avLst>
              <a:gd name="adj" fmla="val 2623"/>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18" name="Shape 16"/>
          <p:cNvSpPr/>
          <p:nvPr/>
        </p:nvSpPr>
        <p:spPr>
          <a:xfrm>
            <a:off x="3264408" y="1481328"/>
            <a:ext cx="2697480" cy="502920"/>
          </a:xfrm>
          <a:prstGeom prst="roundRect">
            <a:avLst>
              <a:gd name="adj" fmla="val 14545"/>
            </a:avLst>
          </a:prstGeom>
          <a:solidFill>
            <a:srgbClr val="27AE60"/>
          </a:solidFill>
          <a:ln w="12700">
            <a:solidFill>
              <a:srgbClr val="27AE60"/>
            </a:solidFill>
            <a:prstDash val="solid"/>
          </a:ln>
        </p:spPr>
      </p:sp>
      <p:sp>
        <p:nvSpPr>
          <p:cNvPr id="19" name="Text 17"/>
          <p:cNvSpPr/>
          <p:nvPr/>
        </p:nvSpPr>
        <p:spPr>
          <a:xfrm>
            <a:off x="3310128" y="1499616"/>
            <a:ext cx="2606040" cy="411480"/>
          </a:xfrm>
          <a:prstGeom prst="rect">
            <a:avLst/>
          </a:prstGeom>
          <a:noFill/>
          <a:ln/>
        </p:spPr>
        <p:txBody>
          <a:bodyPr wrap="square" rtlCol="0" anchor="ctr"/>
          <a:lstStyle/>
          <a:p>
            <a:pPr indent="0" marL="0">
              <a:buNone/>
            </a:pPr>
            <a:r>
              <a:rPr lang="en-US" sz="1200" b="1" dirty="0">
                <a:solidFill>
                  <a:srgbClr val="F0F4F8"/>
                </a:solidFill>
                <a:latin typeface="Cambria" pitchFamily="34" charset="0"/>
                <a:ea typeface="Cambria" pitchFamily="34" charset="-122"/>
                <a:cs typeface="Cambria" pitchFamily="34" charset="-120"/>
              </a:rPr>
              <a:t>Rule 2  ·  Iris Versicolor</a:t>
            </a:r>
            <a:endParaRPr lang="en-US" sz="1200" dirty="0"/>
          </a:p>
        </p:txBody>
      </p:sp>
      <p:sp>
        <p:nvSpPr>
          <p:cNvPr id="20" name="Text 18"/>
          <p:cNvSpPr/>
          <p:nvPr/>
        </p:nvSpPr>
        <p:spPr>
          <a:xfrm>
            <a:off x="3328416" y="2066544"/>
            <a:ext cx="2578608" cy="347472"/>
          </a:xfrm>
          <a:prstGeom prst="rect">
            <a:avLst/>
          </a:prstGeom>
          <a:noFill/>
          <a:ln/>
        </p:spPr>
        <p:txBody>
          <a:bodyPr wrap="square" rtlCol="0" anchor="ctr"/>
          <a:lstStyle/>
          <a:p>
            <a:pPr indent="0" marL="0">
              <a:buNone/>
            </a:pPr>
            <a:r>
              <a:rPr lang="en-US" sz="1400" b="1" dirty="0">
                <a:solidFill>
                  <a:srgbClr val="D4AC0D"/>
                </a:solidFill>
                <a:latin typeface="Cambria" pitchFamily="34" charset="0"/>
                <a:ea typeface="Cambria" pitchFamily="34" charset="-122"/>
                <a:cs typeface="Cambria" pitchFamily="34" charset="-120"/>
              </a:rPr>
              <a:t>Petal Length 2.5 – 4.75 cm</a:t>
            </a:r>
            <a:endParaRPr lang="en-US" sz="1400" dirty="0"/>
          </a:p>
        </p:txBody>
      </p:sp>
      <p:sp>
        <p:nvSpPr>
          <p:cNvPr id="21" name="Text 19"/>
          <p:cNvSpPr/>
          <p:nvPr/>
        </p:nvSpPr>
        <p:spPr>
          <a:xfrm>
            <a:off x="3328416" y="2395728"/>
            <a:ext cx="2578608" cy="256032"/>
          </a:xfrm>
          <a:prstGeom prst="rect">
            <a:avLst/>
          </a:prstGeom>
          <a:noFill/>
          <a:ln/>
        </p:spPr>
        <p:txBody>
          <a:bodyPr wrap="square" rtlCol="0" anchor="ctr"/>
          <a:lstStyle/>
          <a:p>
            <a:pPr indent="0" marL="0">
              <a:buNone/>
            </a:pPr>
            <a:r>
              <a:rPr lang="en-US" sz="1000" i="1" dirty="0">
                <a:solidFill>
                  <a:srgbClr val="8B9CB3"/>
                </a:solidFill>
                <a:latin typeface="Calibri" pitchFamily="34" charset="0"/>
                <a:ea typeface="Calibri" pitchFamily="34" charset="-122"/>
                <a:cs typeface="Calibri" pitchFamily="34" charset="-120"/>
              </a:rPr>
              <a:t>(confirm: Petal Width 1.0 – 1.8 cm)</a:t>
            </a:r>
            <a:endParaRPr lang="en-US" sz="1000" dirty="0"/>
          </a:p>
        </p:txBody>
      </p:sp>
      <p:sp>
        <p:nvSpPr>
          <p:cNvPr id="22" name="Shape 20"/>
          <p:cNvSpPr/>
          <p:nvPr/>
        </p:nvSpPr>
        <p:spPr>
          <a:xfrm>
            <a:off x="3328416" y="2688336"/>
            <a:ext cx="1417320" cy="246888"/>
          </a:xfrm>
          <a:prstGeom prst="roundRect">
            <a:avLst>
              <a:gd name="adj" fmla="val 14815"/>
            </a:avLst>
          </a:prstGeom>
          <a:solidFill>
            <a:srgbClr val="1A5276"/>
          </a:solidFill>
          <a:ln w="12700">
            <a:solidFill>
              <a:srgbClr val="1A5276"/>
            </a:solidFill>
            <a:prstDash val="solid"/>
          </a:ln>
        </p:spPr>
      </p:sp>
      <p:sp>
        <p:nvSpPr>
          <p:cNvPr id="23" name="Text 21"/>
          <p:cNvSpPr/>
          <p:nvPr/>
        </p:nvSpPr>
        <p:spPr>
          <a:xfrm>
            <a:off x="3328416" y="2688336"/>
            <a:ext cx="1417320" cy="246888"/>
          </a:xfrm>
          <a:prstGeom prst="rect">
            <a:avLst/>
          </a:prstGeom>
          <a:noFill/>
          <a:ln/>
        </p:spPr>
        <p:txBody>
          <a:bodyPr wrap="square" rtlCol="0" anchor="ctr"/>
          <a:lstStyle/>
          <a:p>
            <a:pPr algn="ctr" indent="0" marL="0">
              <a:buNone/>
            </a:pPr>
            <a:r>
              <a:rPr lang="en-US" sz="900" b="1" dirty="0">
                <a:solidFill>
                  <a:srgbClr val="27AE60"/>
                </a:solidFill>
                <a:latin typeface="Calibri" pitchFamily="34" charset="0"/>
                <a:ea typeface="Calibri" pitchFamily="34" charset="-122"/>
                <a:cs typeface="Calibri" pitchFamily="34" charset="-120"/>
              </a:rPr>
              <a:t>~86–90% Accuracy</a:t>
            </a:r>
            <a:endParaRPr lang="en-US" sz="900" dirty="0"/>
          </a:p>
        </p:txBody>
      </p:sp>
      <p:sp>
        <p:nvSpPr>
          <p:cNvPr id="24" name="Text 22"/>
          <p:cNvSpPr/>
          <p:nvPr/>
        </p:nvSpPr>
        <p:spPr>
          <a:xfrm>
            <a:off x="3328416" y="2990088"/>
            <a:ext cx="2578608" cy="1005840"/>
          </a:xfrm>
          <a:prstGeom prst="rect">
            <a:avLst/>
          </a:prstGeom>
          <a:noFill/>
          <a:ln/>
        </p:spPr>
        <p:txBody>
          <a:bodyPr wrap="square" rtlCol="0" anchor="ctr"/>
          <a:lstStyle/>
          <a:p>
            <a:pPr indent="0" marL="0">
              <a:buNone/>
            </a:pPr>
            <a:r>
              <a:rPr lang="en-US" sz="950" dirty="0">
                <a:solidFill>
                  <a:srgbClr val="F0F4F8"/>
                </a:solidFill>
                <a:latin typeface="Calibri" pitchFamily="34" charset="0"/>
                <a:ea typeface="Calibri" pitchFamily="34" charset="-122"/>
                <a:cs typeface="Calibri" pitchFamily="34" charset="-120"/>
              </a:rPr>
              <a:t>The middle petal range is dominated by Versicolor. Confirming petal width in the 1.0–1.8 cm band resolves most edge cases. Only a narrow overlap zone around 4.5–5.0 cm requires additional sepal measurement.</a:t>
            </a:r>
            <a:endParaRPr lang="en-US" sz="950" dirty="0"/>
          </a:p>
        </p:txBody>
      </p:sp>
      <p:sp>
        <p:nvSpPr>
          <p:cNvPr id="25" name="Text 23"/>
          <p:cNvSpPr/>
          <p:nvPr/>
        </p:nvSpPr>
        <p:spPr>
          <a:xfrm>
            <a:off x="3328416" y="4005072"/>
            <a:ext cx="2578608" cy="384048"/>
          </a:xfrm>
          <a:prstGeom prst="rect">
            <a:avLst/>
          </a:prstGeom>
          <a:noFill/>
          <a:ln/>
        </p:spPr>
        <p:txBody>
          <a:bodyPr wrap="square" rtlCol="0" anchor="ctr"/>
          <a:lstStyle/>
          <a:p>
            <a:pPr indent="0" marL="0">
              <a:buNone/>
            </a:pPr>
            <a:r>
              <a:rPr lang="en-US" sz="900" b="1" i="1" dirty="0">
                <a:solidFill>
                  <a:srgbClr val="D4AC0D"/>
                </a:solidFill>
                <a:latin typeface="Calibri" pitchFamily="34" charset="0"/>
                <a:ea typeface="Calibri" pitchFamily="34" charset="-122"/>
                <a:cs typeface="Calibri" pitchFamily="34" charset="-120"/>
              </a:rPr>
              <a:t>→ Tag as Versicolor. If PL ≈ 4.5–5.0 cm, verify Sepal Length &gt; 6.0 cm to confirm Virginica.</a:t>
            </a:r>
            <a:endParaRPr lang="en-US" sz="900" dirty="0"/>
          </a:p>
        </p:txBody>
      </p:sp>
      <p:sp>
        <p:nvSpPr>
          <p:cNvPr id="26" name="Shape 24"/>
          <p:cNvSpPr/>
          <p:nvPr/>
        </p:nvSpPr>
        <p:spPr>
          <a:xfrm>
            <a:off x="6163056" y="1481328"/>
            <a:ext cx="2788920" cy="3017520"/>
          </a:xfrm>
          <a:prstGeom prst="roundRect">
            <a:avLst>
              <a:gd name="adj" fmla="val 2623"/>
            </a:avLst>
          </a:prstGeom>
          <a:solidFill>
            <a:srgbClr val="161B22"/>
          </a:solidFill>
          <a:ln w="12700">
            <a:solidFill>
              <a:srgbClr val="2C3347"/>
            </a:solidFill>
            <a:prstDash val="solid"/>
          </a:ln>
          <a:effectLst>
            <a:outerShdw sx="100000" sy="100000" kx="0" ky="0" algn="bl" rotWithShape="0" blurRad="152400" dist="50800" dir="2700000">
              <a:srgbClr val="000000">
                <a:alpha val="25000"/>
              </a:srgbClr>
            </a:outerShdw>
          </a:effectLst>
        </p:spPr>
      </p:sp>
      <p:sp>
        <p:nvSpPr>
          <p:cNvPr id="27" name="Shape 25"/>
          <p:cNvSpPr/>
          <p:nvPr/>
        </p:nvSpPr>
        <p:spPr>
          <a:xfrm>
            <a:off x="6208776" y="1481328"/>
            <a:ext cx="2697480" cy="502920"/>
          </a:xfrm>
          <a:prstGeom prst="roundRect">
            <a:avLst>
              <a:gd name="adj" fmla="val 14545"/>
            </a:avLst>
          </a:prstGeom>
          <a:solidFill>
            <a:srgbClr val="E74C3C"/>
          </a:solidFill>
          <a:ln w="12700">
            <a:solidFill>
              <a:srgbClr val="E74C3C"/>
            </a:solidFill>
            <a:prstDash val="solid"/>
          </a:ln>
        </p:spPr>
      </p:sp>
      <p:sp>
        <p:nvSpPr>
          <p:cNvPr id="28" name="Text 26"/>
          <p:cNvSpPr/>
          <p:nvPr/>
        </p:nvSpPr>
        <p:spPr>
          <a:xfrm>
            <a:off x="6254496" y="1499616"/>
            <a:ext cx="2606040" cy="411480"/>
          </a:xfrm>
          <a:prstGeom prst="rect">
            <a:avLst/>
          </a:prstGeom>
          <a:noFill/>
          <a:ln/>
        </p:spPr>
        <p:txBody>
          <a:bodyPr wrap="square" rtlCol="0" anchor="ctr"/>
          <a:lstStyle/>
          <a:p>
            <a:pPr indent="0" marL="0">
              <a:buNone/>
            </a:pPr>
            <a:r>
              <a:rPr lang="en-US" sz="1200" b="1" dirty="0">
                <a:solidFill>
                  <a:srgbClr val="F0F4F8"/>
                </a:solidFill>
                <a:latin typeface="Cambria" pitchFamily="34" charset="0"/>
                <a:ea typeface="Cambria" pitchFamily="34" charset="-122"/>
                <a:cs typeface="Cambria" pitchFamily="34" charset="-120"/>
              </a:rPr>
              <a:t>Rule 3  ·  Iris Virginica</a:t>
            </a:r>
            <a:endParaRPr lang="en-US" sz="1200" dirty="0"/>
          </a:p>
        </p:txBody>
      </p:sp>
      <p:sp>
        <p:nvSpPr>
          <p:cNvPr id="29" name="Text 27"/>
          <p:cNvSpPr/>
          <p:nvPr/>
        </p:nvSpPr>
        <p:spPr>
          <a:xfrm>
            <a:off x="6272784" y="2066544"/>
            <a:ext cx="2578608" cy="347472"/>
          </a:xfrm>
          <a:prstGeom prst="rect">
            <a:avLst/>
          </a:prstGeom>
          <a:noFill/>
          <a:ln/>
        </p:spPr>
        <p:txBody>
          <a:bodyPr wrap="square" rtlCol="0" anchor="ctr"/>
          <a:lstStyle/>
          <a:p>
            <a:pPr indent="0" marL="0">
              <a:buNone/>
            </a:pPr>
            <a:r>
              <a:rPr lang="en-US" sz="1400" b="1" dirty="0">
                <a:solidFill>
                  <a:srgbClr val="D4AC0D"/>
                </a:solidFill>
                <a:latin typeface="Cambria" pitchFamily="34" charset="0"/>
                <a:ea typeface="Cambria" pitchFamily="34" charset="-122"/>
                <a:cs typeface="Cambria" pitchFamily="34" charset="-120"/>
              </a:rPr>
              <a:t>Petal Length &gt; 4.75 cm</a:t>
            </a:r>
            <a:endParaRPr lang="en-US" sz="1400" dirty="0"/>
          </a:p>
        </p:txBody>
      </p:sp>
      <p:sp>
        <p:nvSpPr>
          <p:cNvPr id="30" name="Text 28"/>
          <p:cNvSpPr/>
          <p:nvPr/>
        </p:nvSpPr>
        <p:spPr>
          <a:xfrm>
            <a:off x="6272784" y="2395728"/>
            <a:ext cx="2578608" cy="256032"/>
          </a:xfrm>
          <a:prstGeom prst="rect">
            <a:avLst/>
          </a:prstGeom>
          <a:noFill/>
          <a:ln/>
        </p:spPr>
        <p:txBody>
          <a:bodyPr wrap="square" rtlCol="0" anchor="ctr"/>
          <a:lstStyle/>
          <a:p>
            <a:pPr indent="0" marL="0">
              <a:buNone/>
            </a:pPr>
            <a:r>
              <a:rPr lang="en-US" sz="1000" i="1" dirty="0">
                <a:solidFill>
                  <a:srgbClr val="8B9CB3"/>
                </a:solidFill>
                <a:latin typeface="Calibri" pitchFamily="34" charset="0"/>
                <a:ea typeface="Calibri" pitchFamily="34" charset="-122"/>
                <a:cs typeface="Calibri" pitchFamily="34" charset="-120"/>
              </a:rPr>
              <a:t>(confirm: Petal Width &gt; 1.8 cm)</a:t>
            </a:r>
            <a:endParaRPr lang="en-US" sz="1000" dirty="0"/>
          </a:p>
        </p:txBody>
      </p:sp>
      <p:sp>
        <p:nvSpPr>
          <p:cNvPr id="31" name="Shape 29"/>
          <p:cNvSpPr/>
          <p:nvPr/>
        </p:nvSpPr>
        <p:spPr>
          <a:xfrm>
            <a:off x="6272784" y="2688336"/>
            <a:ext cx="1417320" cy="246888"/>
          </a:xfrm>
          <a:prstGeom prst="roundRect">
            <a:avLst>
              <a:gd name="adj" fmla="val 14815"/>
            </a:avLst>
          </a:prstGeom>
          <a:solidFill>
            <a:srgbClr val="1A5276"/>
          </a:solidFill>
          <a:ln w="12700">
            <a:solidFill>
              <a:srgbClr val="1A5276"/>
            </a:solidFill>
            <a:prstDash val="solid"/>
          </a:ln>
        </p:spPr>
      </p:sp>
      <p:sp>
        <p:nvSpPr>
          <p:cNvPr id="32" name="Text 30"/>
          <p:cNvSpPr/>
          <p:nvPr/>
        </p:nvSpPr>
        <p:spPr>
          <a:xfrm>
            <a:off x="6272784" y="2688336"/>
            <a:ext cx="1417320" cy="246888"/>
          </a:xfrm>
          <a:prstGeom prst="rect">
            <a:avLst/>
          </a:prstGeom>
          <a:noFill/>
          <a:ln/>
        </p:spPr>
        <p:txBody>
          <a:bodyPr wrap="square" rtlCol="0" anchor="ctr"/>
          <a:lstStyle/>
          <a:p>
            <a:pPr algn="ctr" indent="0" marL="0">
              <a:buNone/>
            </a:pPr>
            <a:r>
              <a:rPr lang="en-US" sz="900" b="1" dirty="0">
                <a:solidFill>
                  <a:srgbClr val="27AE60"/>
                </a:solidFill>
                <a:latin typeface="Calibri" pitchFamily="34" charset="0"/>
                <a:ea typeface="Calibri" pitchFamily="34" charset="-122"/>
                <a:cs typeface="Calibri" pitchFamily="34" charset="-120"/>
              </a:rPr>
              <a:t>~84–89% Accuracy</a:t>
            </a:r>
            <a:endParaRPr lang="en-US" sz="900" dirty="0"/>
          </a:p>
        </p:txBody>
      </p:sp>
      <p:sp>
        <p:nvSpPr>
          <p:cNvPr id="33" name="Text 31"/>
          <p:cNvSpPr/>
          <p:nvPr/>
        </p:nvSpPr>
        <p:spPr>
          <a:xfrm>
            <a:off x="6272784" y="2990088"/>
            <a:ext cx="2578608" cy="1005840"/>
          </a:xfrm>
          <a:prstGeom prst="rect">
            <a:avLst/>
          </a:prstGeom>
          <a:noFill/>
          <a:ln/>
        </p:spPr>
        <p:txBody>
          <a:bodyPr wrap="square" rtlCol="0" anchor="ctr"/>
          <a:lstStyle/>
          <a:p>
            <a:pPr indent="0" marL="0">
              <a:buNone/>
            </a:pPr>
            <a:r>
              <a:rPr lang="en-US" sz="950" dirty="0">
                <a:solidFill>
                  <a:srgbClr val="F0F4F8"/>
                </a:solidFill>
                <a:latin typeface="Calibri" pitchFamily="34" charset="0"/>
                <a:ea typeface="Calibri" pitchFamily="34" charset="-122"/>
                <a:cs typeface="Calibri" pitchFamily="34" charset="-120"/>
              </a:rPr>
              <a:t>Virginica consistently produces the largest petals. Petal width exceeding 1.8 cm alongside petal length above 4.75 cm confirms species with high confidence. Edge cases overlap with Versicolor but are readily resolved with sepal length.</a:t>
            </a:r>
            <a:endParaRPr lang="en-US" sz="950" dirty="0"/>
          </a:p>
        </p:txBody>
      </p:sp>
      <p:sp>
        <p:nvSpPr>
          <p:cNvPr id="34" name="Text 32"/>
          <p:cNvSpPr/>
          <p:nvPr/>
        </p:nvSpPr>
        <p:spPr>
          <a:xfrm>
            <a:off x="6272784" y="4005072"/>
            <a:ext cx="2578608" cy="384048"/>
          </a:xfrm>
          <a:prstGeom prst="rect">
            <a:avLst/>
          </a:prstGeom>
          <a:noFill/>
          <a:ln/>
        </p:spPr>
        <p:txBody>
          <a:bodyPr wrap="square" rtlCol="0" anchor="ctr"/>
          <a:lstStyle/>
          <a:p>
            <a:pPr indent="0" marL="0">
              <a:buNone/>
            </a:pPr>
            <a:r>
              <a:rPr lang="en-US" sz="900" b="1" i="1" dirty="0">
                <a:solidFill>
                  <a:srgbClr val="D4AC0D"/>
                </a:solidFill>
                <a:latin typeface="Calibri" pitchFamily="34" charset="0"/>
                <a:ea typeface="Calibri" pitchFamily="34" charset="-122"/>
                <a:cs typeface="Calibri" pitchFamily="34" charset="-120"/>
              </a:rPr>
              <a:t>→ Tag as Virginica. Borderline cases: cross-check Sepal Length (Virginica avg. 6.6 cm).</a:t>
            </a:r>
            <a:endParaRPr lang="en-US" sz="900" dirty="0"/>
          </a:p>
        </p:txBody>
      </p:sp>
      <p:sp>
        <p:nvSpPr>
          <p:cNvPr id="35" name="Shape 33"/>
          <p:cNvSpPr/>
          <p:nvPr/>
        </p:nvSpPr>
        <p:spPr>
          <a:xfrm>
            <a:off x="274320" y="4645152"/>
            <a:ext cx="8595360" cy="384048"/>
          </a:xfrm>
          <a:prstGeom prst="roundRect">
            <a:avLst>
              <a:gd name="adj" fmla="val 14286"/>
            </a:avLst>
          </a:prstGeom>
          <a:solidFill>
            <a:srgbClr val="1A5276"/>
          </a:solidFill>
          <a:ln w="12700">
            <a:solidFill>
              <a:srgbClr val="1A5276"/>
            </a:solidFill>
            <a:prstDash val="solid"/>
          </a:ln>
        </p:spPr>
      </p:sp>
      <p:sp>
        <p:nvSpPr>
          <p:cNvPr id="36" name="Text 34"/>
          <p:cNvSpPr/>
          <p:nvPr/>
        </p:nvSpPr>
        <p:spPr>
          <a:xfrm>
            <a:off x="457200" y="4645152"/>
            <a:ext cx="8321040" cy="384048"/>
          </a:xfrm>
          <a:prstGeom prst="rect">
            <a:avLst/>
          </a:prstGeom>
          <a:noFill/>
          <a:ln/>
        </p:spPr>
        <p:txBody>
          <a:bodyPr wrap="square" rtlCol="0" anchor="ctr"/>
          <a:lstStyle/>
          <a:p>
            <a:pPr indent="0" marL="0">
              <a:buNone/>
            </a:pPr>
            <a:r>
              <a:rPr lang="en-US" sz="1100" b="1" dirty="0">
                <a:solidFill>
                  <a:srgbClr val="D4AC0D"/>
                </a:solidFill>
                <a:latin typeface="Calibri" pitchFamily="34" charset="0"/>
                <a:ea typeface="Calibri" pitchFamily="34" charset="-122"/>
                <a:cs typeface="Calibri" pitchFamily="34" charset="-120"/>
              </a:rPr>
              <a:t>Expected Impact:  </a:t>
            </a:r>
            <a:pPr indent="0" marL="0">
              <a:buNone/>
            </a:pPr>
            <a:r>
              <a:rPr lang="en-US" sz="1100" dirty="0">
                <a:solidFill>
                  <a:srgbClr val="F0F4F8"/>
                </a:solidFill>
                <a:latin typeface="Calibri" pitchFamily="34" charset="0"/>
                <a:ea typeface="Calibri" pitchFamily="34" charset="-122"/>
                <a:cs typeface="Calibri" pitchFamily="34" charset="-120"/>
              </a:rPr>
              <a:t>Reduces misclassification rate from ~15% (manual) to &lt; 5% (rulebook-guided). Deployable in field without digital tools.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Iris Species — The Botanist's Classifier</dc:title>
  <dc:subject>PptxGenJS Presentation</dc:subject>
  <dc:creator>Data Strategy &amp; Analytics</dc:creator>
  <cp:lastModifiedBy>Data Strategy &amp; Analytics</cp:lastModifiedBy>
  <cp:revision>1</cp:revision>
  <dcterms:created xsi:type="dcterms:W3CDTF">2026-06-10T13:10:07Z</dcterms:created>
  <dcterms:modified xsi:type="dcterms:W3CDTF">2026-06-10T13:10:07Z</dcterms:modified>
</cp:coreProperties>
</file>